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embeddedFontLst>
    <p:embeddedFont>
      <p:font typeface="DM Sans Medium"/>
      <p:regular r:id="rId14"/>
    </p:embeddedFont>
    <p:embeddedFont>
      <p:font typeface="DM Sans Medium"/>
      <p:regular r:id="rId15"/>
    </p:embeddedFont>
    <p:embeddedFont>
      <p:font typeface="DM Sans Medium"/>
      <p:regular r:id="rId16"/>
    </p:embeddedFont>
    <p:embeddedFont>
      <p:font typeface="DM Sans Medium"/>
      <p:regular r:id="rId17"/>
    </p:embeddedFont>
    <p:embeddedFont>
      <p:font typeface="Inter"/>
      <p:regular r:id="rId18"/>
    </p:embeddedFont>
    <p:embeddedFont>
      <p:font typeface="Inter"/>
      <p:regular r:id="rId19"/>
    </p:embeddedFont>
    <p:embeddedFont>
      <p:font typeface="Inter"/>
      <p:regular r:id="rId20"/>
    </p:embeddedFont>
    <p:embeddedFont>
      <p:font typeface="Inter"/>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1213"/>
          </a:solidFill>
          <a:ln/>
        </p:spPr>
      </p:sp>
      <p:sp>
        <p:nvSpPr>
          <p:cNvPr id="3" name="Shape 1"/>
          <p:cNvSpPr/>
          <p:nvPr/>
        </p:nvSpPr>
        <p:spPr>
          <a:xfrm>
            <a:off x="0" y="0"/>
            <a:ext cx="14630400" cy="8229600"/>
          </a:xfrm>
          <a:prstGeom prst="rect">
            <a:avLst/>
          </a:prstGeom>
          <a:solidFill>
            <a:srgbClr val="2D313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260640"/>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Distributed LLM Training on Big Data</a:t>
            </a:r>
            <a:endParaRPr lang="en-US" sz="4450" dirty="0"/>
          </a:p>
        </p:txBody>
      </p:sp>
      <p:sp>
        <p:nvSpPr>
          <p:cNvPr id="4" name="Text 1"/>
          <p:cNvSpPr/>
          <p:nvPr/>
        </p:nvSpPr>
        <p:spPr>
          <a:xfrm>
            <a:off x="6280190" y="3768923"/>
            <a:ext cx="7556421" cy="1133951"/>
          </a:xfrm>
          <a:prstGeom prst="rect">
            <a:avLst/>
          </a:prstGeom>
          <a:noFill/>
          <a:ln/>
        </p:spPr>
        <p:txBody>
          <a:bodyPr wrap="square" lIns="0" tIns="0" rIns="0" bIns="0" rtlCol="0" anchor="t"/>
          <a:lstStyle/>
          <a:p>
            <a:pPr algn="l" indent="0" marL="0">
              <a:lnSpc>
                <a:spcPts val="4450"/>
              </a:lnSpc>
              <a:buNone/>
            </a:pPr>
            <a:r>
              <a:rPr lang="en-US" sz="3550" dirty="0">
                <a:solidFill>
                  <a:srgbClr val="F7F7F8"/>
                </a:solidFill>
                <a:latin typeface="DM Sans Medium" pitchFamily="34" charset="0"/>
                <a:ea typeface="DM Sans Medium" pitchFamily="34" charset="-122"/>
                <a:cs typeface="DM Sans Medium" pitchFamily="34" charset="-120"/>
              </a:rPr>
              <a:t>Comparative Analysis of Language Models</a:t>
            </a:r>
            <a:endParaRPr lang="en-US" sz="3550" dirty="0"/>
          </a:p>
        </p:txBody>
      </p:sp>
      <p:sp>
        <p:nvSpPr>
          <p:cNvPr id="5" name="Text 2"/>
          <p:cNvSpPr/>
          <p:nvPr/>
        </p:nvSpPr>
        <p:spPr>
          <a:xfrm>
            <a:off x="6280190" y="5243036"/>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D6D9D7"/>
                </a:solidFill>
                <a:latin typeface="Inter" pitchFamily="34" charset="0"/>
                <a:ea typeface="Inter" pitchFamily="34" charset="-122"/>
                <a:cs typeface="Inter" pitchFamily="34" charset="-120"/>
              </a:rPr>
              <a:t>Ch Govardhan Sujith (2310030407) • N. Akhil (2310030159) • R. Nikhil (2310030138) • N. Hemanth (2310030212)</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03127"/>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Introduction</a:t>
            </a:r>
            <a:endParaRPr lang="en-US" sz="4450" dirty="0"/>
          </a:p>
        </p:txBody>
      </p:sp>
      <p:sp>
        <p:nvSpPr>
          <p:cNvPr id="4" name="Text 1"/>
          <p:cNvSpPr/>
          <p:nvPr/>
        </p:nvSpPr>
        <p:spPr>
          <a:xfrm>
            <a:off x="793790" y="2478881"/>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7F7F8"/>
                </a:solidFill>
                <a:latin typeface="DM Sans Medium" pitchFamily="34" charset="0"/>
                <a:ea typeface="DM Sans Medium" pitchFamily="34" charset="-122"/>
                <a:cs typeface="DM Sans Medium" pitchFamily="34" charset="-120"/>
              </a:rPr>
              <a:t>Big Data Landscape</a:t>
            </a:r>
            <a:endParaRPr lang="en-US" sz="2650" dirty="0"/>
          </a:p>
        </p:txBody>
      </p:sp>
      <p:sp>
        <p:nvSpPr>
          <p:cNvPr id="5" name="Text 2"/>
          <p:cNvSpPr/>
          <p:nvPr/>
        </p:nvSpPr>
        <p:spPr>
          <a:xfrm>
            <a:off x="793790" y="3130987"/>
            <a:ext cx="3501509" cy="3266123"/>
          </a:xfrm>
          <a:prstGeom prst="rect">
            <a:avLst/>
          </a:prstGeom>
          <a:noFill/>
          <a:ln/>
        </p:spPr>
        <p:txBody>
          <a:bodyPr wrap="square" lIns="0" tIns="0" rIns="0" bIns="0" rtlCol="0" anchor="t"/>
          <a:lstStyle/>
          <a:p>
            <a:pPr algn="l" indent="0" marL="0">
              <a:lnSpc>
                <a:spcPts val="2850"/>
              </a:lnSpc>
              <a:buNone/>
            </a:pPr>
            <a:r>
              <a:rPr lang="en-US" sz="1750" dirty="0">
                <a:solidFill>
                  <a:srgbClr val="D6D9D7"/>
                </a:solidFill>
                <a:latin typeface="Inter" pitchFamily="34" charset="0"/>
                <a:ea typeface="Inter" pitchFamily="34" charset="-122"/>
                <a:cs typeface="Inter" pitchFamily="34" charset="-120"/>
              </a:rPr>
              <a:t>The exponential growth of unstructured text data across digital platforms has created unprecedented challenges for traditional processing methods. From social media to scientific publications, the volume and variety of textual information continue to expand.</a:t>
            </a:r>
            <a:endParaRPr lang="en-US" sz="1750" dirty="0"/>
          </a:p>
        </p:txBody>
      </p:sp>
      <p:sp>
        <p:nvSpPr>
          <p:cNvPr id="6" name="Text 3"/>
          <p:cNvSpPr/>
          <p:nvPr/>
        </p:nvSpPr>
        <p:spPr>
          <a:xfrm>
            <a:off x="4856321" y="2478881"/>
            <a:ext cx="3501509" cy="850583"/>
          </a:xfrm>
          <a:prstGeom prst="rect">
            <a:avLst/>
          </a:prstGeom>
          <a:noFill/>
          <a:ln/>
        </p:spPr>
        <p:txBody>
          <a:bodyPr wrap="square" lIns="0" tIns="0" rIns="0" bIns="0" rtlCol="0" anchor="t"/>
          <a:lstStyle/>
          <a:p>
            <a:pPr algn="l" indent="0" marL="0">
              <a:lnSpc>
                <a:spcPts val="3300"/>
              </a:lnSpc>
              <a:buNone/>
            </a:pPr>
            <a:r>
              <a:rPr lang="en-US" sz="2650" dirty="0">
                <a:solidFill>
                  <a:srgbClr val="F7F7F8"/>
                </a:solidFill>
                <a:latin typeface="DM Sans Medium" pitchFamily="34" charset="0"/>
                <a:ea typeface="DM Sans Medium" pitchFamily="34" charset="-122"/>
                <a:cs typeface="DM Sans Medium" pitchFamily="34" charset="-120"/>
              </a:rPr>
              <a:t>Transformer Revolution</a:t>
            </a:r>
            <a:endParaRPr lang="en-US" sz="2650" dirty="0"/>
          </a:p>
        </p:txBody>
      </p:sp>
      <p:sp>
        <p:nvSpPr>
          <p:cNvPr id="7" name="Text 4"/>
          <p:cNvSpPr/>
          <p:nvPr/>
        </p:nvSpPr>
        <p:spPr>
          <a:xfrm>
            <a:off x="4856321" y="3556278"/>
            <a:ext cx="3501509" cy="3266123"/>
          </a:xfrm>
          <a:prstGeom prst="rect">
            <a:avLst/>
          </a:prstGeom>
          <a:noFill/>
          <a:ln/>
        </p:spPr>
        <p:txBody>
          <a:bodyPr wrap="square" lIns="0" tIns="0" rIns="0" bIns="0" rtlCol="0" anchor="t"/>
          <a:lstStyle/>
          <a:p>
            <a:pPr algn="l" indent="0" marL="0">
              <a:lnSpc>
                <a:spcPts val="2850"/>
              </a:lnSpc>
              <a:buNone/>
            </a:pPr>
            <a:r>
              <a:rPr lang="en-US" sz="1750" dirty="0">
                <a:solidFill>
                  <a:srgbClr val="D6D9D7"/>
                </a:solidFill>
                <a:latin typeface="Inter" pitchFamily="34" charset="0"/>
                <a:ea typeface="Inter" pitchFamily="34" charset="-122"/>
                <a:cs typeface="Inter" pitchFamily="34" charset="-120"/>
              </a:rPr>
              <a:t>Large Language Models (LLMs) built on transformer architecture have emerged as powerful tools for processing and understanding natural language at scale. Their attention mechanisms enable context-aware processing of massive text corpora.</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19238"/>
            <a:ext cx="8783122" cy="708779"/>
          </a:xfrm>
          <a:prstGeom prst="rect">
            <a:avLst/>
          </a:prstGeom>
          <a:noFill/>
          <a:ln/>
        </p:spPr>
        <p:txBody>
          <a:bodyPr wrap="none" lIns="0" tIns="0" rIns="0" bIns="0" rtlCol="0" anchor="t"/>
          <a:lstStyle/>
          <a:p>
            <a:pPr algn="l" indent="0" marL="0">
              <a:lnSpc>
                <a:spcPts val="5550"/>
              </a:lnSpc>
              <a:buNone/>
            </a:pPr>
            <a:r>
              <a:rPr lang="en-US" sz="4450" dirty="0">
                <a:solidFill>
                  <a:srgbClr val="F7F7F8"/>
                </a:solidFill>
                <a:latin typeface="DM Sans Medium" pitchFamily="34" charset="0"/>
                <a:ea typeface="DM Sans Medium" pitchFamily="34" charset="-122"/>
                <a:cs typeface="DM Sans Medium" pitchFamily="34" charset="-120"/>
              </a:rPr>
              <a:t>Problem Statement &amp; Objectives</a:t>
            </a:r>
            <a:endParaRPr lang="en-US" sz="4450" dirty="0"/>
          </a:p>
        </p:txBody>
      </p:sp>
      <p:sp>
        <p:nvSpPr>
          <p:cNvPr id="3" name="Shape 1"/>
          <p:cNvSpPr/>
          <p:nvPr/>
        </p:nvSpPr>
        <p:spPr>
          <a:xfrm>
            <a:off x="793790" y="2681645"/>
            <a:ext cx="4196358" cy="4028718"/>
          </a:xfrm>
          <a:prstGeom prst="roundRect">
            <a:avLst>
              <a:gd name="adj" fmla="val 845"/>
            </a:avLst>
          </a:prstGeom>
          <a:solidFill>
            <a:srgbClr val="4C5052"/>
          </a:solidFill>
          <a:ln/>
        </p:spPr>
      </p:sp>
      <p:sp>
        <p:nvSpPr>
          <p:cNvPr id="4" name="Shape 2"/>
          <p:cNvSpPr/>
          <p:nvPr/>
        </p:nvSpPr>
        <p:spPr>
          <a:xfrm>
            <a:off x="1020604" y="2908459"/>
            <a:ext cx="680442" cy="680442"/>
          </a:xfrm>
          <a:prstGeom prst="roundRect">
            <a:avLst>
              <a:gd name="adj" fmla="val 13436980"/>
            </a:avLst>
          </a:prstGeom>
          <a:solidFill>
            <a:srgbClr val="AC9EF5"/>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7770" y="3095506"/>
            <a:ext cx="306110" cy="306110"/>
          </a:xfrm>
          <a:prstGeom prst="rect">
            <a:avLst/>
          </a:prstGeom>
        </p:spPr>
      </p:pic>
      <p:sp>
        <p:nvSpPr>
          <p:cNvPr id="6" name="Text 3"/>
          <p:cNvSpPr/>
          <p:nvPr/>
        </p:nvSpPr>
        <p:spPr>
          <a:xfrm>
            <a:off x="1020604" y="3815715"/>
            <a:ext cx="2970014" cy="354330"/>
          </a:xfrm>
          <a:prstGeom prst="rect">
            <a:avLst/>
          </a:prstGeom>
          <a:noFill/>
          <a:ln/>
        </p:spPr>
        <p:txBody>
          <a:bodyPr wrap="none" lIns="0" tIns="0" rIns="0" bIns="0" rtlCol="0" anchor="t"/>
          <a:lstStyle/>
          <a:p>
            <a:pPr algn="l" indent="0" marL="0">
              <a:lnSpc>
                <a:spcPts val="2750"/>
              </a:lnSpc>
              <a:buNone/>
            </a:pPr>
            <a:r>
              <a:rPr lang="en-US" sz="2200" dirty="0">
                <a:solidFill>
                  <a:srgbClr val="D6D9D7"/>
                </a:solidFill>
                <a:latin typeface="DM Sans Medium" pitchFamily="34" charset="0"/>
                <a:ea typeface="DM Sans Medium" pitchFamily="34" charset="-122"/>
                <a:cs typeface="DM Sans Medium" pitchFamily="34" charset="-120"/>
              </a:rPr>
              <a:t>Traditional Limitations</a:t>
            </a:r>
            <a:endParaRPr lang="en-US" sz="2200" dirty="0"/>
          </a:p>
        </p:txBody>
      </p:sp>
      <p:sp>
        <p:nvSpPr>
          <p:cNvPr id="7" name="Text 4"/>
          <p:cNvSpPr/>
          <p:nvPr/>
        </p:nvSpPr>
        <p:spPr>
          <a:xfrm>
            <a:off x="1020604" y="4306133"/>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D6D9D7"/>
                </a:solidFill>
                <a:latin typeface="Inter" pitchFamily="34" charset="0"/>
                <a:ea typeface="Inter" pitchFamily="34" charset="-122"/>
                <a:cs typeface="Inter" pitchFamily="34" charset="-120"/>
              </a:rPr>
              <a:t>Conventional NLP pipelines struggle with scalability, unable to efficiently process terabytes of unstructured text or capture long-range dependencies in language.</a:t>
            </a:r>
            <a:endParaRPr lang="en-US" sz="1750" dirty="0"/>
          </a:p>
        </p:txBody>
      </p:sp>
      <p:sp>
        <p:nvSpPr>
          <p:cNvPr id="8" name="Shape 5"/>
          <p:cNvSpPr/>
          <p:nvPr/>
        </p:nvSpPr>
        <p:spPr>
          <a:xfrm>
            <a:off x="5216962" y="2681645"/>
            <a:ext cx="4196358" cy="4028718"/>
          </a:xfrm>
          <a:prstGeom prst="roundRect">
            <a:avLst>
              <a:gd name="adj" fmla="val 845"/>
            </a:avLst>
          </a:prstGeom>
          <a:solidFill>
            <a:srgbClr val="4C5052"/>
          </a:solidFill>
          <a:ln/>
        </p:spPr>
      </p:sp>
      <p:sp>
        <p:nvSpPr>
          <p:cNvPr id="9" name="Shape 6"/>
          <p:cNvSpPr/>
          <p:nvPr/>
        </p:nvSpPr>
        <p:spPr>
          <a:xfrm>
            <a:off x="5443776" y="2908459"/>
            <a:ext cx="680442" cy="680442"/>
          </a:xfrm>
          <a:prstGeom prst="roundRect">
            <a:avLst>
              <a:gd name="adj" fmla="val 13436980"/>
            </a:avLst>
          </a:prstGeom>
          <a:solidFill>
            <a:srgbClr val="AC9EF5"/>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0942" y="3095506"/>
            <a:ext cx="306110" cy="306110"/>
          </a:xfrm>
          <a:prstGeom prst="rect">
            <a:avLst/>
          </a:prstGeom>
        </p:spPr>
      </p:pic>
      <p:sp>
        <p:nvSpPr>
          <p:cNvPr id="11" name="Text 7"/>
          <p:cNvSpPr/>
          <p:nvPr/>
        </p:nvSpPr>
        <p:spPr>
          <a:xfrm>
            <a:off x="5443776" y="3815715"/>
            <a:ext cx="2881670" cy="354330"/>
          </a:xfrm>
          <a:prstGeom prst="rect">
            <a:avLst/>
          </a:prstGeom>
          <a:noFill/>
          <a:ln/>
        </p:spPr>
        <p:txBody>
          <a:bodyPr wrap="none" lIns="0" tIns="0" rIns="0" bIns="0" rtlCol="0" anchor="t"/>
          <a:lstStyle/>
          <a:p>
            <a:pPr algn="l" indent="0" marL="0">
              <a:lnSpc>
                <a:spcPts val="2750"/>
              </a:lnSpc>
              <a:buNone/>
            </a:pPr>
            <a:r>
              <a:rPr lang="en-US" sz="2200" dirty="0">
                <a:solidFill>
                  <a:srgbClr val="D6D9D7"/>
                </a:solidFill>
                <a:latin typeface="DM Sans Medium" pitchFamily="34" charset="0"/>
                <a:ea typeface="DM Sans Medium" pitchFamily="34" charset="-122"/>
                <a:cs typeface="DM Sans Medium" pitchFamily="34" charset="-120"/>
              </a:rPr>
              <a:t>Scalability Imperative</a:t>
            </a:r>
            <a:endParaRPr lang="en-US" sz="2200" dirty="0"/>
          </a:p>
        </p:txBody>
      </p:sp>
      <p:sp>
        <p:nvSpPr>
          <p:cNvPr id="12" name="Text 8"/>
          <p:cNvSpPr/>
          <p:nvPr/>
        </p:nvSpPr>
        <p:spPr>
          <a:xfrm>
            <a:off x="5443776" y="4306133"/>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D6D9D7"/>
                </a:solidFill>
                <a:latin typeface="Inter" pitchFamily="34" charset="0"/>
                <a:ea typeface="Inter" pitchFamily="34" charset="-122"/>
                <a:cs typeface="Inter" pitchFamily="34" charset="-120"/>
              </a:rPr>
              <a:t>Modern applications demand training frameworks that can distribute computation across multiple processors whilst maintaining model coherence and training stability.</a:t>
            </a:r>
            <a:endParaRPr lang="en-US" sz="1750" dirty="0"/>
          </a:p>
        </p:txBody>
      </p:sp>
      <p:sp>
        <p:nvSpPr>
          <p:cNvPr id="13" name="Shape 9"/>
          <p:cNvSpPr/>
          <p:nvPr/>
        </p:nvSpPr>
        <p:spPr>
          <a:xfrm>
            <a:off x="9640133" y="2681645"/>
            <a:ext cx="4196358" cy="4028718"/>
          </a:xfrm>
          <a:prstGeom prst="roundRect">
            <a:avLst>
              <a:gd name="adj" fmla="val 845"/>
            </a:avLst>
          </a:prstGeom>
          <a:solidFill>
            <a:srgbClr val="4C5052"/>
          </a:solidFill>
          <a:ln/>
        </p:spPr>
      </p:sp>
      <p:sp>
        <p:nvSpPr>
          <p:cNvPr id="14" name="Shape 10"/>
          <p:cNvSpPr/>
          <p:nvPr/>
        </p:nvSpPr>
        <p:spPr>
          <a:xfrm>
            <a:off x="9866948" y="2908459"/>
            <a:ext cx="680442" cy="680442"/>
          </a:xfrm>
          <a:prstGeom prst="roundRect">
            <a:avLst>
              <a:gd name="adj" fmla="val 13436980"/>
            </a:avLst>
          </a:prstGeom>
          <a:solidFill>
            <a:srgbClr val="AC9EF5"/>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4114" y="3095506"/>
            <a:ext cx="306110" cy="306110"/>
          </a:xfrm>
          <a:prstGeom prst="rect">
            <a:avLst/>
          </a:prstGeom>
        </p:spPr>
      </p:pic>
      <p:sp>
        <p:nvSpPr>
          <p:cNvPr id="16" name="Text 11"/>
          <p:cNvSpPr/>
          <p:nvPr/>
        </p:nvSpPr>
        <p:spPr>
          <a:xfrm>
            <a:off x="9866948" y="38157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6D9D7"/>
                </a:solidFill>
                <a:latin typeface="DM Sans Medium" pitchFamily="34" charset="0"/>
                <a:ea typeface="DM Sans Medium" pitchFamily="34" charset="-122"/>
                <a:cs typeface="DM Sans Medium" pitchFamily="34" charset="-120"/>
              </a:rPr>
              <a:t>Comparative Study</a:t>
            </a:r>
            <a:endParaRPr lang="en-US" sz="2200" dirty="0"/>
          </a:p>
        </p:txBody>
      </p:sp>
      <p:sp>
        <p:nvSpPr>
          <p:cNvPr id="17" name="Text 12"/>
          <p:cNvSpPr/>
          <p:nvPr/>
        </p:nvSpPr>
        <p:spPr>
          <a:xfrm>
            <a:off x="9866948" y="4306133"/>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D6D9D7"/>
                </a:solidFill>
                <a:latin typeface="Inter" pitchFamily="34" charset="0"/>
                <a:ea typeface="Inter" pitchFamily="34" charset="-122"/>
                <a:cs typeface="Inter" pitchFamily="34" charset="-120"/>
              </a:rPr>
              <a:t>Our objective focuses on training and systematically comparing multiple LLM architectures to identify optimal trade-offs between performance and computational efficiency.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82228" y="616506"/>
            <a:ext cx="4873228" cy="609124"/>
          </a:xfrm>
          <a:prstGeom prst="rect">
            <a:avLst/>
          </a:prstGeom>
          <a:noFill/>
          <a:ln/>
        </p:spPr>
        <p:txBody>
          <a:bodyPr wrap="none" lIns="0" tIns="0" rIns="0" bIns="0" rtlCol="0" anchor="t"/>
          <a:lstStyle/>
          <a:p>
            <a:pPr algn="l" indent="0" marL="0">
              <a:lnSpc>
                <a:spcPts val="4750"/>
              </a:lnSpc>
              <a:buNone/>
            </a:pPr>
            <a:r>
              <a:rPr lang="en-US" sz="3800" dirty="0">
                <a:solidFill>
                  <a:srgbClr val="F7F7F8"/>
                </a:solidFill>
                <a:latin typeface="DM Sans Medium" pitchFamily="34" charset="0"/>
                <a:ea typeface="DM Sans Medium" pitchFamily="34" charset="-122"/>
                <a:cs typeface="DM Sans Medium" pitchFamily="34" charset="-120"/>
              </a:rPr>
              <a:t>Methodology</a:t>
            </a:r>
            <a:endParaRPr lang="en-US" sz="3800" dirty="0"/>
          </a:p>
        </p:txBody>
      </p:sp>
      <p:sp>
        <p:nvSpPr>
          <p:cNvPr id="4" name="Text 1"/>
          <p:cNvSpPr/>
          <p:nvPr/>
        </p:nvSpPr>
        <p:spPr>
          <a:xfrm>
            <a:off x="682228" y="1644253"/>
            <a:ext cx="3411141" cy="365522"/>
          </a:xfrm>
          <a:prstGeom prst="rect">
            <a:avLst/>
          </a:prstGeom>
          <a:noFill/>
          <a:ln/>
        </p:spPr>
        <p:txBody>
          <a:bodyPr wrap="none" lIns="0" tIns="0" rIns="0" bIns="0" rtlCol="0" anchor="t"/>
          <a:lstStyle/>
          <a:p>
            <a:pPr algn="l" indent="0" marL="0">
              <a:lnSpc>
                <a:spcPts val="2850"/>
              </a:lnSpc>
              <a:buNone/>
            </a:pPr>
            <a:r>
              <a:rPr lang="en-US" sz="2300" dirty="0">
                <a:solidFill>
                  <a:srgbClr val="F7F7F8"/>
                </a:solidFill>
                <a:latin typeface="DM Sans Medium" pitchFamily="34" charset="0"/>
                <a:ea typeface="DM Sans Medium" pitchFamily="34" charset="-122"/>
                <a:cs typeface="DM Sans Medium" pitchFamily="34" charset="-120"/>
              </a:rPr>
              <a:t>Dataset &amp; Preprocessing</a:t>
            </a:r>
            <a:endParaRPr lang="en-US" sz="2300" dirty="0"/>
          </a:p>
        </p:txBody>
      </p:sp>
      <p:sp>
        <p:nvSpPr>
          <p:cNvPr id="5" name="Text 2"/>
          <p:cNvSpPr/>
          <p:nvPr/>
        </p:nvSpPr>
        <p:spPr>
          <a:xfrm>
            <a:off x="682228" y="2177177"/>
            <a:ext cx="3652004" cy="2029420"/>
          </a:xfrm>
          <a:prstGeom prst="rect">
            <a:avLst/>
          </a:prstGeom>
          <a:noFill/>
          <a:ln/>
        </p:spPr>
        <p:txBody>
          <a:bodyPr wrap="square" lIns="0" tIns="0" rIns="0" bIns="0" rtlCol="0" anchor="t"/>
          <a:lstStyle/>
          <a:p>
            <a:pPr algn="l" indent="0" marL="0">
              <a:lnSpc>
                <a:spcPts val="2250"/>
              </a:lnSpc>
              <a:buNone/>
            </a:pPr>
            <a:r>
              <a:rPr lang="en-US" sz="1500" dirty="0">
                <a:solidFill>
                  <a:srgbClr val="D6D9D7"/>
                </a:solidFill>
                <a:latin typeface="Inter" pitchFamily="34" charset="0"/>
                <a:ea typeface="Inter" pitchFamily="34" charset="-122"/>
                <a:cs typeface="Inter" pitchFamily="34" charset="-120"/>
              </a:rPr>
              <a:t>We utilised a curated subset of the WikiText dataset containing diverse unstructured text. Preprocessing involved subword tokenisation, case normalisation, and removal of special characters to ensure consistent input format.</a:t>
            </a:r>
            <a:endParaRPr lang="en-US" sz="1500" dirty="0"/>
          </a:p>
        </p:txBody>
      </p:sp>
      <p:sp>
        <p:nvSpPr>
          <p:cNvPr id="6" name="Text 3"/>
          <p:cNvSpPr/>
          <p:nvPr/>
        </p:nvSpPr>
        <p:spPr>
          <a:xfrm>
            <a:off x="4817388" y="1644253"/>
            <a:ext cx="2923937" cy="365522"/>
          </a:xfrm>
          <a:prstGeom prst="rect">
            <a:avLst/>
          </a:prstGeom>
          <a:noFill/>
          <a:ln/>
        </p:spPr>
        <p:txBody>
          <a:bodyPr wrap="none" lIns="0" tIns="0" rIns="0" bIns="0" rtlCol="0" anchor="t"/>
          <a:lstStyle/>
          <a:p>
            <a:pPr algn="l" indent="0" marL="0">
              <a:lnSpc>
                <a:spcPts val="2850"/>
              </a:lnSpc>
              <a:buNone/>
            </a:pPr>
            <a:r>
              <a:rPr lang="en-US" sz="2300" dirty="0">
                <a:solidFill>
                  <a:srgbClr val="F7F7F8"/>
                </a:solidFill>
                <a:latin typeface="DM Sans Medium" pitchFamily="34" charset="0"/>
                <a:ea typeface="DM Sans Medium" pitchFamily="34" charset="-122"/>
                <a:cs typeface="DM Sans Medium" pitchFamily="34" charset="-120"/>
              </a:rPr>
              <a:t>Model Selection</a:t>
            </a:r>
            <a:endParaRPr lang="en-US" sz="2300" dirty="0"/>
          </a:p>
        </p:txBody>
      </p:sp>
      <p:sp>
        <p:nvSpPr>
          <p:cNvPr id="7" name="Text 4"/>
          <p:cNvSpPr/>
          <p:nvPr/>
        </p:nvSpPr>
        <p:spPr>
          <a:xfrm>
            <a:off x="4817388" y="2177177"/>
            <a:ext cx="3652004" cy="2146578"/>
          </a:xfrm>
          <a:prstGeom prst="rect">
            <a:avLst/>
          </a:prstGeom>
          <a:noFill/>
          <a:ln/>
        </p:spPr>
        <p:txBody>
          <a:bodyPr wrap="square" lIns="0" tIns="0" rIns="0" bIns="0" rtlCol="0" anchor="t"/>
          <a:lstStyle/>
          <a:p>
            <a:pPr algn="l" marL="342900" indent="-342900">
              <a:lnSpc>
                <a:spcPts val="2250"/>
              </a:lnSpc>
              <a:buSzPct val="100000"/>
              <a:buChar char="•"/>
            </a:pPr>
            <a:r>
              <a:rPr lang="en-US" sz="1500" b="1" dirty="0">
                <a:solidFill>
                  <a:srgbClr val="D6D9D7"/>
                </a:solidFill>
                <a:latin typeface="Inter" pitchFamily="34" charset="0"/>
                <a:ea typeface="Inter" pitchFamily="34" charset="-122"/>
                <a:cs typeface="Inter" pitchFamily="34" charset="-120"/>
              </a:rPr>
              <a:t>DistilGPT-2:</a:t>
            </a:r>
            <a:pPr algn="l" indent="0" marL="0">
              <a:lnSpc>
                <a:spcPts val="2250"/>
              </a:lnSpc>
              <a:buNone/>
            </a:pPr>
            <a:r>
              <a:rPr lang="en-US" sz="1500" dirty="0">
                <a:solidFill>
                  <a:srgbClr val="D6D9D7"/>
                </a:solidFill>
                <a:latin typeface="Inter" pitchFamily="34" charset="0"/>
                <a:ea typeface="Inter" pitchFamily="34" charset="-122"/>
                <a:cs typeface="Inter" pitchFamily="34" charset="-120"/>
              </a:rPr>
              <a:t> Compressed architecture with 66% fewer parameters</a:t>
            </a:r>
            <a:endParaRPr lang="en-US" sz="1500" dirty="0"/>
          </a:p>
          <a:p>
            <a:pPr algn="l" marL="342900" indent="-342900">
              <a:lnSpc>
                <a:spcPts val="2250"/>
              </a:lnSpc>
              <a:buSzPct val="100000"/>
              <a:buChar char="•"/>
            </a:pPr>
            <a:r>
              <a:rPr lang="en-US" sz="1500" b="1" dirty="0">
                <a:solidFill>
                  <a:srgbClr val="D6D9D7"/>
                </a:solidFill>
                <a:latin typeface="Inter" pitchFamily="34" charset="0"/>
                <a:ea typeface="Inter" pitchFamily="34" charset="-122"/>
                <a:cs typeface="Inter" pitchFamily="34" charset="-120"/>
              </a:rPr>
              <a:t>GPT-2:</a:t>
            </a:r>
            <a:pPr algn="l" indent="0" marL="0">
              <a:lnSpc>
                <a:spcPts val="2250"/>
              </a:lnSpc>
              <a:buNone/>
            </a:pPr>
            <a:r>
              <a:rPr lang="en-US" sz="1500" dirty="0">
                <a:solidFill>
                  <a:srgbClr val="D6D9D7"/>
                </a:solidFill>
                <a:latin typeface="Inter" pitchFamily="34" charset="0"/>
                <a:ea typeface="Inter" pitchFamily="34" charset="-122"/>
                <a:cs typeface="Inter" pitchFamily="34" charset="-120"/>
              </a:rPr>
              <a:t> Full-capacity 1.5B parameter model</a:t>
            </a:r>
            <a:endParaRPr lang="en-US" sz="1500" dirty="0"/>
          </a:p>
          <a:p>
            <a:pPr algn="l" marL="342900" indent="-342900">
              <a:lnSpc>
                <a:spcPts val="2250"/>
              </a:lnSpc>
              <a:buSzPct val="100000"/>
              <a:buChar char="•"/>
            </a:pPr>
            <a:r>
              <a:rPr lang="en-US" sz="1500" b="1" dirty="0">
                <a:solidFill>
                  <a:srgbClr val="D6D9D7"/>
                </a:solidFill>
                <a:latin typeface="Inter" pitchFamily="34" charset="0"/>
                <a:ea typeface="Inter" pitchFamily="34" charset="-122"/>
                <a:cs typeface="Inter" pitchFamily="34" charset="-120"/>
              </a:rPr>
              <a:t>Tiny GPT-2:</a:t>
            </a:r>
            <a:pPr algn="l" indent="0" marL="0">
              <a:lnSpc>
                <a:spcPts val="2250"/>
              </a:lnSpc>
              <a:buNone/>
            </a:pPr>
            <a:r>
              <a:rPr lang="en-US" sz="1500" dirty="0">
                <a:solidFill>
                  <a:srgbClr val="D6D9D7"/>
                </a:solidFill>
                <a:latin typeface="Inter" pitchFamily="34" charset="0"/>
                <a:ea typeface="Inter" pitchFamily="34" charset="-122"/>
                <a:cs typeface="Inter" pitchFamily="34" charset="-120"/>
              </a:rPr>
              <a:t> Minimal architecture for rapid prototyping</a:t>
            </a:r>
            <a:endParaRPr lang="en-US" sz="1500" dirty="0"/>
          </a:p>
        </p:txBody>
      </p:sp>
      <p:sp>
        <p:nvSpPr>
          <p:cNvPr id="8" name="Text 5"/>
          <p:cNvSpPr/>
          <p:nvPr/>
        </p:nvSpPr>
        <p:spPr>
          <a:xfrm>
            <a:off x="682228" y="4570690"/>
            <a:ext cx="389811" cy="243602"/>
          </a:xfrm>
          <a:prstGeom prst="rect">
            <a:avLst/>
          </a:prstGeom>
          <a:noFill/>
          <a:ln/>
        </p:spPr>
        <p:txBody>
          <a:bodyPr wrap="none" lIns="0" tIns="0" rIns="0" bIns="0" rtlCol="0" anchor="t"/>
          <a:lstStyle/>
          <a:p>
            <a:pPr algn="l" indent="0" marL="0">
              <a:lnSpc>
                <a:spcPts val="2250"/>
              </a:lnSpc>
              <a:buNone/>
            </a:pPr>
            <a:r>
              <a:rPr lang="en-US" sz="1500" dirty="0">
                <a:solidFill>
                  <a:srgbClr val="D6D9D7"/>
                </a:solidFill>
                <a:latin typeface="DM Sans Light" pitchFamily="34" charset="0"/>
                <a:ea typeface="DM Sans Light" pitchFamily="34" charset="-122"/>
                <a:cs typeface="DM Sans Light" pitchFamily="34" charset="-120"/>
              </a:rPr>
              <a:t>01</a:t>
            </a:r>
            <a:endParaRPr lang="en-US" sz="1500" dirty="0"/>
          </a:p>
        </p:txBody>
      </p:sp>
      <p:sp>
        <p:nvSpPr>
          <p:cNvPr id="9" name="Shape 6"/>
          <p:cNvSpPr/>
          <p:nvPr/>
        </p:nvSpPr>
        <p:spPr>
          <a:xfrm>
            <a:off x="682228" y="4879062"/>
            <a:ext cx="3806071" cy="22860"/>
          </a:xfrm>
          <a:prstGeom prst="rect">
            <a:avLst/>
          </a:prstGeom>
          <a:solidFill>
            <a:srgbClr val="AC9EF5"/>
          </a:solidFill>
          <a:ln/>
        </p:spPr>
      </p:sp>
      <p:sp>
        <p:nvSpPr>
          <p:cNvPr id="10" name="Text 7"/>
          <p:cNvSpPr/>
          <p:nvPr/>
        </p:nvSpPr>
        <p:spPr>
          <a:xfrm>
            <a:off x="682228" y="5022175"/>
            <a:ext cx="2436614" cy="304562"/>
          </a:xfrm>
          <a:prstGeom prst="rect">
            <a:avLst/>
          </a:prstGeom>
          <a:noFill/>
          <a:ln/>
        </p:spPr>
        <p:txBody>
          <a:bodyPr wrap="none" lIns="0" tIns="0" rIns="0" bIns="0" rtlCol="0" anchor="t"/>
          <a:lstStyle/>
          <a:p>
            <a:pPr algn="l" indent="0" marL="0">
              <a:lnSpc>
                <a:spcPts val="2350"/>
              </a:lnSpc>
              <a:buNone/>
            </a:pPr>
            <a:r>
              <a:rPr lang="en-US" sz="1900" dirty="0">
                <a:solidFill>
                  <a:srgbClr val="D6D9D7"/>
                </a:solidFill>
                <a:latin typeface="DM Sans Medium" pitchFamily="34" charset="0"/>
                <a:ea typeface="DM Sans Medium" pitchFamily="34" charset="-122"/>
                <a:cs typeface="DM Sans Medium" pitchFamily="34" charset="-120"/>
              </a:rPr>
              <a:t>Batch Processing</a:t>
            </a:r>
            <a:endParaRPr lang="en-US" sz="1900" dirty="0"/>
          </a:p>
        </p:txBody>
      </p:sp>
      <p:sp>
        <p:nvSpPr>
          <p:cNvPr id="11" name="Text 8"/>
          <p:cNvSpPr/>
          <p:nvPr/>
        </p:nvSpPr>
        <p:spPr>
          <a:xfrm>
            <a:off x="682228" y="5427226"/>
            <a:ext cx="3806071" cy="579834"/>
          </a:xfrm>
          <a:prstGeom prst="rect">
            <a:avLst/>
          </a:prstGeom>
          <a:noFill/>
          <a:ln/>
        </p:spPr>
        <p:txBody>
          <a:bodyPr wrap="square" lIns="0" tIns="0" rIns="0" bIns="0" rtlCol="0" anchor="t"/>
          <a:lstStyle/>
          <a:p>
            <a:pPr algn="l" indent="0" marL="0">
              <a:lnSpc>
                <a:spcPts val="2250"/>
              </a:lnSpc>
              <a:buNone/>
            </a:pPr>
            <a:r>
              <a:rPr lang="en-US" sz="1500" dirty="0">
                <a:solidFill>
                  <a:srgbClr val="D6D9D7"/>
                </a:solidFill>
                <a:latin typeface="Inter" pitchFamily="34" charset="0"/>
                <a:ea typeface="Inter" pitchFamily="34" charset="-122"/>
                <a:cs typeface="Inter" pitchFamily="34" charset="-120"/>
              </a:rPr>
              <a:t>Fixed-size batches with gradient accumulation</a:t>
            </a:r>
            <a:endParaRPr lang="en-US" sz="1500" dirty="0"/>
          </a:p>
        </p:txBody>
      </p:sp>
      <p:sp>
        <p:nvSpPr>
          <p:cNvPr id="12" name="Text 9"/>
          <p:cNvSpPr/>
          <p:nvPr/>
        </p:nvSpPr>
        <p:spPr>
          <a:xfrm>
            <a:off x="4655701" y="4570690"/>
            <a:ext cx="389811" cy="243602"/>
          </a:xfrm>
          <a:prstGeom prst="rect">
            <a:avLst/>
          </a:prstGeom>
          <a:noFill/>
          <a:ln/>
        </p:spPr>
        <p:txBody>
          <a:bodyPr wrap="none" lIns="0" tIns="0" rIns="0" bIns="0" rtlCol="0" anchor="t"/>
          <a:lstStyle/>
          <a:p>
            <a:pPr algn="l" indent="0" marL="0">
              <a:lnSpc>
                <a:spcPts val="2250"/>
              </a:lnSpc>
              <a:buNone/>
            </a:pPr>
            <a:r>
              <a:rPr lang="en-US" sz="1500" dirty="0">
                <a:solidFill>
                  <a:srgbClr val="D6D9D7"/>
                </a:solidFill>
                <a:latin typeface="DM Sans Light" pitchFamily="34" charset="0"/>
                <a:ea typeface="DM Sans Light" pitchFamily="34" charset="-122"/>
                <a:cs typeface="DM Sans Light" pitchFamily="34" charset="-120"/>
              </a:rPr>
              <a:t>02</a:t>
            </a:r>
            <a:endParaRPr lang="en-US" sz="1500" dirty="0"/>
          </a:p>
        </p:txBody>
      </p:sp>
      <p:sp>
        <p:nvSpPr>
          <p:cNvPr id="13" name="Shape 10"/>
          <p:cNvSpPr/>
          <p:nvPr/>
        </p:nvSpPr>
        <p:spPr>
          <a:xfrm>
            <a:off x="4655701" y="4879062"/>
            <a:ext cx="3806071" cy="22860"/>
          </a:xfrm>
          <a:prstGeom prst="rect">
            <a:avLst/>
          </a:prstGeom>
          <a:solidFill>
            <a:srgbClr val="AC9EF5"/>
          </a:solidFill>
          <a:ln/>
        </p:spPr>
      </p:sp>
      <p:sp>
        <p:nvSpPr>
          <p:cNvPr id="14" name="Text 11"/>
          <p:cNvSpPr/>
          <p:nvPr/>
        </p:nvSpPr>
        <p:spPr>
          <a:xfrm>
            <a:off x="4655701" y="5022175"/>
            <a:ext cx="2436614" cy="304562"/>
          </a:xfrm>
          <a:prstGeom prst="rect">
            <a:avLst/>
          </a:prstGeom>
          <a:noFill/>
          <a:ln/>
        </p:spPr>
        <p:txBody>
          <a:bodyPr wrap="none" lIns="0" tIns="0" rIns="0" bIns="0" rtlCol="0" anchor="t"/>
          <a:lstStyle/>
          <a:p>
            <a:pPr algn="l" indent="0" marL="0">
              <a:lnSpc>
                <a:spcPts val="2350"/>
              </a:lnSpc>
              <a:buNone/>
            </a:pPr>
            <a:r>
              <a:rPr lang="en-US" sz="1900" dirty="0">
                <a:solidFill>
                  <a:srgbClr val="D6D9D7"/>
                </a:solidFill>
                <a:latin typeface="DM Sans Medium" pitchFamily="34" charset="0"/>
                <a:ea typeface="DM Sans Medium" pitchFamily="34" charset="-122"/>
                <a:cs typeface="DM Sans Medium" pitchFamily="34" charset="-120"/>
              </a:rPr>
              <a:t>Loss Computation</a:t>
            </a:r>
            <a:endParaRPr lang="en-US" sz="1900" dirty="0"/>
          </a:p>
        </p:txBody>
      </p:sp>
      <p:sp>
        <p:nvSpPr>
          <p:cNvPr id="15" name="Text 12"/>
          <p:cNvSpPr/>
          <p:nvPr/>
        </p:nvSpPr>
        <p:spPr>
          <a:xfrm>
            <a:off x="4655701" y="5427226"/>
            <a:ext cx="3806071" cy="579834"/>
          </a:xfrm>
          <a:prstGeom prst="rect">
            <a:avLst/>
          </a:prstGeom>
          <a:noFill/>
          <a:ln/>
        </p:spPr>
        <p:txBody>
          <a:bodyPr wrap="square" lIns="0" tIns="0" rIns="0" bIns="0" rtlCol="0" anchor="t"/>
          <a:lstStyle/>
          <a:p>
            <a:pPr algn="l" indent="0" marL="0">
              <a:lnSpc>
                <a:spcPts val="2250"/>
              </a:lnSpc>
              <a:buNone/>
            </a:pPr>
            <a:r>
              <a:rPr lang="en-US" sz="1500" dirty="0">
                <a:solidFill>
                  <a:srgbClr val="D6D9D7"/>
                </a:solidFill>
                <a:latin typeface="Inter" pitchFamily="34" charset="0"/>
                <a:ea typeface="Inter" pitchFamily="34" charset="-122"/>
                <a:cs typeface="Inter" pitchFamily="34" charset="-120"/>
              </a:rPr>
              <a:t>Cross-entropy loss across token predictions</a:t>
            </a:r>
            <a:endParaRPr lang="en-US" sz="1500" dirty="0"/>
          </a:p>
        </p:txBody>
      </p:sp>
      <p:sp>
        <p:nvSpPr>
          <p:cNvPr id="16" name="Text 13"/>
          <p:cNvSpPr/>
          <p:nvPr/>
        </p:nvSpPr>
        <p:spPr>
          <a:xfrm>
            <a:off x="682228" y="6320552"/>
            <a:ext cx="389811" cy="243602"/>
          </a:xfrm>
          <a:prstGeom prst="rect">
            <a:avLst/>
          </a:prstGeom>
          <a:noFill/>
          <a:ln/>
        </p:spPr>
        <p:txBody>
          <a:bodyPr wrap="none" lIns="0" tIns="0" rIns="0" bIns="0" rtlCol="0" anchor="t"/>
          <a:lstStyle/>
          <a:p>
            <a:pPr algn="l" indent="0" marL="0">
              <a:lnSpc>
                <a:spcPts val="2250"/>
              </a:lnSpc>
              <a:buNone/>
            </a:pPr>
            <a:r>
              <a:rPr lang="en-US" sz="1500" dirty="0">
                <a:solidFill>
                  <a:srgbClr val="D6D9D7"/>
                </a:solidFill>
                <a:latin typeface="DM Sans Light" pitchFamily="34" charset="0"/>
                <a:ea typeface="DM Sans Light" pitchFamily="34" charset="-122"/>
                <a:cs typeface="DM Sans Light" pitchFamily="34" charset="-120"/>
              </a:rPr>
              <a:t>03</a:t>
            </a:r>
            <a:endParaRPr lang="en-US" sz="1500" dirty="0"/>
          </a:p>
        </p:txBody>
      </p:sp>
      <p:sp>
        <p:nvSpPr>
          <p:cNvPr id="17" name="Shape 14"/>
          <p:cNvSpPr/>
          <p:nvPr/>
        </p:nvSpPr>
        <p:spPr>
          <a:xfrm>
            <a:off x="682228" y="6628924"/>
            <a:ext cx="7779544" cy="22860"/>
          </a:xfrm>
          <a:prstGeom prst="rect">
            <a:avLst/>
          </a:prstGeom>
          <a:solidFill>
            <a:srgbClr val="AC9EF5"/>
          </a:solidFill>
          <a:ln/>
        </p:spPr>
      </p:sp>
      <p:sp>
        <p:nvSpPr>
          <p:cNvPr id="18" name="Text 15"/>
          <p:cNvSpPr/>
          <p:nvPr/>
        </p:nvSpPr>
        <p:spPr>
          <a:xfrm>
            <a:off x="682228" y="6772037"/>
            <a:ext cx="2436614" cy="304562"/>
          </a:xfrm>
          <a:prstGeom prst="rect">
            <a:avLst/>
          </a:prstGeom>
          <a:noFill/>
          <a:ln/>
        </p:spPr>
        <p:txBody>
          <a:bodyPr wrap="none" lIns="0" tIns="0" rIns="0" bIns="0" rtlCol="0" anchor="t"/>
          <a:lstStyle/>
          <a:p>
            <a:pPr algn="l" indent="0" marL="0">
              <a:lnSpc>
                <a:spcPts val="2350"/>
              </a:lnSpc>
              <a:buNone/>
            </a:pPr>
            <a:r>
              <a:rPr lang="en-US" sz="1900" dirty="0">
                <a:solidFill>
                  <a:srgbClr val="D6D9D7"/>
                </a:solidFill>
                <a:latin typeface="DM Sans Medium" pitchFamily="34" charset="0"/>
                <a:ea typeface="DM Sans Medium" pitchFamily="34" charset="-122"/>
                <a:cs typeface="DM Sans Medium" pitchFamily="34" charset="-120"/>
              </a:rPr>
              <a:t>Backpropagation</a:t>
            </a:r>
            <a:endParaRPr lang="en-US" sz="1900" dirty="0"/>
          </a:p>
        </p:txBody>
      </p:sp>
      <p:sp>
        <p:nvSpPr>
          <p:cNvPr id="19" name="Text 16"/>
          <p:cNvSpPr/>
          <p:nvPr/>
        </p:nvSpPr>
        <p:spPr>
          <a:xfrm>
            <a:off x="682228" y="7177088"/>
            <a:ext cx="7779544" cy="289917"/>
          </a:xfrm>
          <a:prstGeom prst="rect">
            <a:avLst/>
          </a:prstGeom>
          <a:noFill/>
          <a:ln/>
        </p:spPr>
        <p:txBody>
          <a:bodyPr wrap="none" lIns="0" tIns="0" rIns="0" bIns="0" rtlCol="0" anchor="t"/>
          <a:lstStyle/>
          <a:p>
            <a:pPr algn="l" indent="0" marL="0">
              <a:lnSpc>
                <a:spcPts val="2250"/>
              </a:lnSpc>
              <a:buNone/>
            </a:pPr>
            <a:r>
              <a:rPr lang="en-US" sz="1500" dirty="0">
                <a:solidFill>
                  <a:srgbClr val="D6D9D7"/>
                </a:solidFill>
                <a:latin typeface="Inter" pitchFamily="34" charset="0"/>
                <a:ea typeface="Inter" pitchFamily="34" charset="-122"/>
                <a:cs typeface="Inter" pitchFamily="34" charset="-120"/>
              </a:rPr>
              <a:t>Gradient descent with learning rate scheduling</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446014" y="532567"/>
            <a:ext cx="4252913" cy="531614"/>
          </a:xfrm>
          <a:prstGeom prst="rect">
            <a:avLst/>
          </a:prstGeom>
          <a:noFill/>
          <a:ln/>
        </p:spPr>
        <p:txBody>
          <a:bodyPr wrap="none" lIns="0" tIns="0" rIns="0" bIns="0" rtlCol="0" anchor="t"/>
          <a:lstStyle/>
          <a:p>
            <a:pPr algn="l" indent="0" marL="0">
              <a:lnSpc>
                <a:spcPts val="4150"/>
              </a:lnSpc>
              <a:buNone/>
            </a:pPr>
            <a:r>
              <a:rPr lang="en-US" sz="3300" dirty="0">
                <a:solidFill>
                  <a:srgbClr val="F7F7F8"/>
                </a:solidFill>
                <a:latin typeface="DM Sans Medium" pitchFamily="34" charset="0"/>
                <a:ea typeface="DM Sans Medium" pitchFamily="34" charset="-122"/>
                <a:cs typeface="DM Sans Medium" pitchFamily="34" charset="-120"/>
              </a:rPr>
              <a:t>System Architecture</a:t>
            </a:r>
            <a:endParaRPr lang="en-US" sz="3300" dirty="0"/>
          </a:p>
        </p:txBody>
      </p:sp>
      <p:pic>
        <p:nvPicPr>
          <p:cNvPr id="3" name="Image 0" descr="preencoded.png">    </p:cNvPr>
          <p:cNvPicPr>
            <a:picLocks noChangeAspect="1"/>
          </p:cNvPicPr>
          <p:nvPr/>
        </p:nvPicPr>
        <p:blipFill>
          <a:blip r:embed="rId1"/>
          <a:stretch>
            <a:fillRect/>
          </a:stretch>
        </p:blipFill>
        <p:spPr>
          <a:xfrm>
            <a:off x="3298031" y="1319332"/>
            <a:ext cx="8034099" cy="6377583"/>
          </a:xfrm>
          <a:prstGeom prst="rect">
            <a:avLst/>
          </a:prstGeom>
        </p:spPr>
      </p:pic>
      <p:sp>
        <p:nvSpPr>
          <p:cNvPr id="4" name="Text 1"/>
          <p:cNvSpPr/>
          <p:nvPr/>
        </p:nvSpPr>
        <p:spPr>
          <a:xfrm>
            <a:off x="6582611" y="3819245"/>
            <a:ext cx="1443783" cy="1320533"/>
          </a:xfrm>
          <a:prstGeom prst="rect">
            <a:avLst/>
          </a:prstGeom>
          <a:noFill/>
          <a:ln/>
        </p:spPr>
        <p:txBody>
          <a:bodyPr wrap="square" lIns="0" tIns="0" rIns="0" bIns="0" rtlCol="0" anchor="t"/>
          <a:lstStyle/>
          <a:p>
            <a:pPr algn="ctr" indent="0" marL="0">
              <a:lnSpc>
                <a:spcPts val="2550"/>
              </a:lnSpc>
              <a:buNone/>
            </a:pPr>
            <a:r>
              <a:rPr lang="en-US" sz="2050" dirty="0">
                <a:solidFill>
                  <a:srgbClr val="000000"/>
                </a:solidFill>
                <a:latin typeface="DM Sans Medium" pitchFamily="34" charset="0"/>
                <a:ea typeface="DM Sans Medium" pitchFamily="34" charset="-122"/>
                <a:cs typeface="DM Sans Medium" pitchFamily="34" charset="-120"/>
              </a:rPr>
              <a:t>Parallel LLM Training Flow</a:t>
            </a:r>
            <a:endParaRPr lang="en-US" sz="2050" dirty="0"/>
          </a:p>
        </p:txBody>
      </p:sp>
      <p:sp>
        <p:nvSpPr>
          <p:cNvPr id="5" name="Text 2"/>
          <p:cNvSpPr/>
          <p:nvPr/>
        </p:nvSpPr>
        <p:spPr>
          <a:xfrm>
            <a:off x="8002917" y="2079993"/>
            <a:ext cx="2147884" cy="330133"/>
          </a:xfrm>
          <a:prstGeom prst="rect">
            <a:avLst/>
          </a:prstGeom>
          <a:noFill/>
          <a:ln/>
        </p:spPr>
        <p:txBody>
          <a:bodyPr wrap="none" lIns="0" tIns="0" rIns="0" bIns="0" rtlCol="0" anchor="t"/>
          <a:lstStyle/>
          <a:p>
            <a:pPr algn="ctr" indent="0" marL="0">
              <a:lnSpc>
                <a:spcPts val="2550"/>
              </a:lnSpc>
              <a:buNone/>
            </a:pPr>
            <a:r>
              <a:rPr lang="en-US" sz="2050" dirty="0">
                <a:solidFill>
                  <a:srgbClr val="D6D9D7"/>
                </a:solidFill>
                <a:latin typeface="DM Sans Medium" pitchFamily="34" charset="0"/>
                <a:ea typeface="DM Sans Medium" pitchFamily="34" charset="-122"/>
                <a:cs typeface="DM Sans Medium" pitchFamily="34" charset="-120"/>
              </a:rPr>
              <a:t>Text dataset</a:t>
            </a:r>
            <a:endParaRPr lang="en-US" sz="2050" dirty="0"/>
          </a:p>
        </p:txBody>
      </p:sp>
      <p:sp>
        <p:nvSpPr>
          <p:cNvPr id="6" name="Text 3"/>
          <p:cNvSpPr/>
          <p:nvPr/>
        </p:nvSpPr>
        <p:spPr>
          <a:xfrm>
            <a:off x="8002917" y="2504031"/>
            <a:ext cx="2147884" cy="231093"/>
          </a:xfrm>
          <a:prstGeom prst="rect">
            <a:avLst/>
          </a:prstGeom>
          <a:noFill/>
          <a:ln/>
        </p:spPr>
        <p:txBody>
          <a:bodyPr wrap="none" lIns="0" tIns="0" rIns="0" bIns="0" rtlCol="0" anchor="t"/>
          <a:lstStyle/>
          <a:p>
            <a:pPr algn="ctr" indent="0" marL="0">
              <a:lnSpc>
                <a:spcPts val="1800"/>
              </a:lnSpc>
              <a:buNone/>
            </a:pPr>
            <a:r>
              <a:rPr lang="en-US" sz="1650" dirty="0">
                <a:solidFill>
                  <a:srgbClr val="D6D9D7"/>
                </a:solidFill>
                <a:latin typeface="Inter" pitchFamily="34" charset="0"/>
                <a:ea typeface="Inter" pitchFamily="34" charset="-122"/>
                <a:cs typeface="Inter" pitchFamily="34" charset="-120"/>
              </a:rPr>
              <a:t>Raw corpus input</a:t>
            </a:r>
            <a:endParaRPr lang="en-US" sz="1650" dirty="0"/>
          </a:p>
        </p:txBody>
      </p:sp>
      <p:sp>
        <p:nvSpPr>
          <p:cNvPr id="7" name="Text 4"/>
          <p:cNvSpPr/>
          <p:nvPr/>
        </p:nvSpPr>
        <p:spPr>
          <a:xfrm>
            <a:off x="4422805" y="2079993"/>
            <a:ext cx="2147884" cy="330133"/>
          </a:xfrm>
          <a:prstGeom prst="rect">
            <a:avLst/>
          </a:prstGeom>
          <a:noFill/>
          <a:ln/>
        </p:spPr>
        <p:txBody>
          <a:bodyPr wrap="none" lIns="0" tIns="0" rIns="0" bIns="0" rtlCol="0" anchor="t"/>
          <a:lstStyle/>
          <a:p>
            <a:pPr algn="ctr" indent="0" marL="0">
              <a:lnSpc>
                <a:spcPts val="2550"/>
              </a:lnSpc>
              <a:buNone/>
            </a:pPr>
            <a:r>
              <a:rPr lang="en-US" sz="2050" dirty="0">
                <a:solidFill>
                  <a:srgbClr val="D6D9D7"/>
                </a:solidFill>
                <a:latin typeface="DM Sans Medium" pitchFamily="34" charset="0"/>
                <a:ea typeface="DM Sans Medium" pitchFamily="34" charset="-122"/>
                <a:cs typeface="DM Sans Medium" pitchFamily="34" charset="-120"/>
              </a:rPr>
              <a:t>Train Tiny GPT-2</a:t>
            </a:r>
            <a:endParaRPr lang="en-US" sz="2050" dirty="0"/>
          </a:p>
        </p:txBody>
      </p:sp>
      <p:sp>
        <p:nvSpPr>
          <p:cNvPr id="8" name="Text 5"/>
          <p:cNvSpPr/>
          <p:nvPr/>
        </p:nvSpPr>
        <p:spPr>
          <a:xfrm>
            <a:off x="4422805" y="2504031"/>
            <a:ext cx="2147884" cy="231093"/>
          </a:xfrm>
          <a:prstGeom prst="rect">
            <a:avLst/>
          </a:prstGeom>
          <a:noFill/>
          <a:ln/>
        </p:spPr>
        <p:txBody>
          <a:bodyPr wrap="none" lIns="0" tIns="0" rIns="0" bIns="0" rtlCol="0" anchor="t"/>
          <a:lstStyle/>
          <a:p>
            <a:pPr algn="ctr" indent="0" marL="0">
              <a:lnSpc>
                <a:spcPts val="1800"/>
              </a:lnSpc>
              <a:buNone/>
            </a:pPr>
            <a:r>
              <a:rPr lang="en-US" sz="1650" dirty="0">
                <a:solidFill>
                  <a:srgbClr val="D6D9D7"/>
                </a:solidFill>
                <a:latin typeface="Inter" pitchFamily="34" charset="0"/>
                <a:ea typeface="Inter" pitchFamily="34" charset="-122"/>
                <a:cs typeface="Inter" pitchFamily="34" charset="-120"/>
              </a:rPr>
              <a:t>Minimal model</a:t>
            </a:r>
            <a:endParaRPr lang="en-US" sz="1650" dirty="0"/>
          </a:p>
        </p:txBody>
      </p:sp>
      <p:sp>
        <p:nvSpPr>
          <p:cNvPr id="9" name="Text 6"/>
          <p:cNvSpPr/>
          <p:nvPr/>
        </p:nvSpPr>
        <p:spPr>
          <a:xfrm>
            <a:off x="4422805" y="6270484"/>
            <a:ext cx="2147884" cy="330133"/>
          </a:xfrm>
          <a:prstGeom prst="rect">
            <a:avLst/>
          </a:prstGeom>
          <a:noFill/>
          <a:ln/>
        </p:spPr>
        <p:txBody>
          <a:bodyPr wrap="none" lIns="0" tIns="0" rIns="0" bIns="0" rtlCol="0" anchor="t"/>
          <a:lstStyle/>
          <a:p>
            <a:pPr algn="ctr" indent="0" marL="0">
              <a:lnSpc>
                <a:spcPts val="2550"/>
              </a:lnSpc>
              <a:buNone/>
            </a:pPr>
            <a:r>
              <a:rPr lang="en-US" sz="2050" dirty="0">
                <a:solidFill>
                  <a:srgbClr val="D6D9D7"/>
                </a:solidFill>
                <a:latin typeface="DM Sans Medium" pitchFamily="34" charset="0"/>
                <a:ea typeface="DM Sans Medium" pitchFamily="34" charset="-122"/>
                <a:cs typeface="DM Sans Medium" pitchFamily="34" charset="-120"/>
              </a:rPr>
              <a:t>Train DistilGPT-2</a:t>
            </a:r>
            <a:endParaRPr lang="en-US" sz="2050" dirty="0"/>
          </a:p>
        </p:txBody>
      </p:sp>
      <p:sp>
        <p:nvSpPr>
          <p:cNvPr id="10" name="Text 7"/>
          <p:cNvSpPr/>
          <p:nvPr/>
        </p:nvSpPr>
        <p:spPr>
          <a:xfrm>
            <a:off x="4422805" y="6694522"/>
            <a:ext cx="2147884" cy="231093"/>
          </a:xfrm>
          <a:prstGeom prst="rect">
            <a:avLst/>
          </a:prstGeom>
          <a:noFill/>
          <a:ln/>
        </p:spPr>
        <p:txBody>
          <a:bodyPr wrap="none" lIns="0" tIns="0" rIns="0" bIns="0" rtlCol="0" anchor="t"/>
          <a:lstStyle/>
          <a:p>
            <a:pPr algn="ctr" indent="0" marL="0">
              <a:lnSpc>
                <a:spcPts val="1800"/>
              </a:lnSpc>
              <a:buNone/>
            </a:pPr>
            <a:r>
              <a:rPr lang="en-US" sz="1650" dirty="0">
                <a:solidFill>
                  <a:srgbClr val="D6D9D7"/>
                </a:solidFill>
                <a:latin typeface="Inter" pitchFamily="34" charset="0"/>
                <a:ea typeface="Inter" pitchFamily="34" charset="-122"/>
                <a:cs typeface="Inter" pitchFamily="34" charset="-120"/>
              </a:rPr>
              <a:t>Lightweight model</a:t>
            </a:r>
            <a:endParaRPr lang="en-US" sz="1650" dirty="0"/>
          </a:p>
        </p:txBody>
      </p:sp>
      <p:sp>
        <p:nvSpPr>
          <p:cNvPr id="11" name="Text 8"/>
          <p:cNvSpPr/>
          <p:nvPr/>
        </p:nvSpPr>
        <p:spPr>
          <a:xfrm>
            <a:off x="8002917" y="6270484"/>
            <a:ext cx="2147884" cy="330133"/>
          </a:xfrm>
          <a:prstGeom prst="rect">
            <a:avLst/>
          </a:prstGeom>
          <a:noFill/>
          <a:ln/>
        </p:spPr>
        <p:txBody>
          <a:bodyPr wrap="none" lIns="0" tIns="0" rIns="0" bIns="0" rtlCol="0" anchor="t"/>
          <a:lstStyle/>
          <a:p>
            <a:pPr algn="ctr" indent="0" marL="0">
              <a:lnSpc>
                <a:spcPts val="2550"/>
              </a:lnSpc>
              <a:buNone/>
            </a:pPr>
            <a:r>
              <a:rPr lang="en-US" sz="2050" dirty="0">
                <a:solidFill>
                  <a:srgbClr val="D6D9D7"/>
                </a:solidFill>
                <a:latin typeface="DM Sans Medium" pitchFamily="34" charset="0"/>
                <a:ea typeface="DM Sans Medium" pitchFamily="34" charset="-122"/>
                <a:cs typeface="DM Sans Medium" pitchFamily="34" charset="-120"/>
              </a:rPr>
              <a:t>Batching</a:t>
            </a:r>
            <a:endParaRPr lang="en-US" sz="2050" dirty="0"/>
          </a:p>
        </p:txBody>
      </p:sp>
      <p:sp>
        <p:nvSpPr>
          <p:cNvPr id="12" name="Text 9"/>
          <p:cNvSpPr/>
          <p:nvPr/>
        </p:nvSpPr>
        <p:spPr>
          <a:xfrm>
            <a:off x="8002917" y="6694522"/>
            <a:ext cx="2147884" cy="231093"/>
          </a:xfrm>
          <a:prstGeom prst="rect">
            <a:avLst/>
          </a:prstGeom>
          <a:noFill/>
          <a:ln/>
        </p:spPr>
        <p:txBody>
          <a:bodyPr wrap="none" lIns="0" tIns="0" rIns="0" bIns="0" rtlCol="0" anchor="t"/>
          <a:lstStyle/>
          <a:p>
            <a:pPr algn="ctr" indent="0" marL="0">
              <a:lnSpc>
                <a:spcPts val="1800"/>
              </a:lnSpc>
              <a:buNone/>
            </a:pPr>
            <a:r>
              <a:rPr lang="en-US" sz="1650" dirty="0">
                <a:solidFill>
                  <a:srgbClr val="D6D9D7"/>
                </a:solidFill>
                <a:latin typeface="Inter" pitchFamily="34" charset="0"/>
                <a:ea typeface="Inter" pitchFamily="34" charset="-122"/>
                <a:cs typeface="Inter" pitchFamily="34" charset="-120"/>
              </a:rPr>
              <a:t>Fixed-size batches</a:t>
            </a:r>
            <a:endParaRPr lang="en-US" sz="1650" dirty="0"/>
          </a:p>
        </p:txBody>
      </p:sp>
      <p:sp>
        <p:nvSpPr>
          <p:cNvPr id="13" name="Text 10"/>
          <p:cNvSpPr/>
          <p:nvPr/>
        </p:nvSpPr>
        <p:spPr>
          <a:xfrm>
            <a:off x="8777630" y="4145893"/>
            <a:ext cx="2194836" cy="330133"/>
          </a:xfrm>
          <a:prstGeom prst="rect">
            <a:avLst/>
          </a:prstGeom>
          <a:noFill/>
          <a:ln/>
        </p:spPr>
        <p:txBody>
          <a:bodyPr wrap="none" lIns="0" tIns="0" rIns="0" bIns="0" rtlCol="0" anchor="t"/>
          <a:lstStyle/>
          <a:p>
            <a:pPr algn="ctr" indent="0" marL="0">
              <a:lnSpc>
                <a:spcPts val="2550"/>
              </a:lnSpc>
              <a:buNone/>
            </a:pPr>
            <a:r>
              <a:rPr lang="en-US" sz="2050" dirty="0">
                <a:solidFill>
                  <a:srgbClr val="D6D9D7"/>
                </a:solidFill>
                <a:latin typeface="DM Sans Medium" pitchFamily="34" charset="0"/>
                <a:ea typeface="DM Sans Medium" pitchFamily="34" charset="-122"/>
                <a:cs typeface="DM Sans Medium" pitchFamily="34" charset="-120"/>
              </a:rPr>
              <a:t>Tokenization</a:t>
            </a:r>
            <a:endParaRPr lang="en-US" sz="2050" dirty="0"/>
          </a:p>
        </p:txBody>
      </p:sp>
      <p:sp>
        <p:nvSpPr>
          <p:cNvPr id="14" name="Text 11"/>
          <p:cNvSpPr/>
          <p:nvPr/>
        </p:nvSpPr>
        <p:spPr>
          <a:xfrm>
            <a:off x="8777630" y="4569931"/>
            <a:ext cx="2194836" cy="231093"/>
          </a:xfrm>
          <a:prstGeom prst="rect">
            <a:avLst/>
          </a:prstGeom>
          <a:noFill/>
          <a:ln/>
        </p:spPr>
        <p:txBody>
          <a:bodyPr wrap="none" lIns="0" tIns="0" rIns="0" bIns="0" rtlCol="0" anchor="t"/>
          <a:lstStyle/>
          <a:p>
            <a:pPr algn="ctr" indent="0" marL="0">
              <a:lnSpc>
                <a:spcPts val="1800"/>
              </a:lnSpc>
              <a:buNone/>
            </a:pPr>
            <a:r>
              <a:rPr lang="en-US" sz="1650" dirty="0">
                <a:solidFill>
                  <a:srgbClr val="D6D9D7"/>
                </a:solidFill>
                <a:latin typeface="Inter" pitchFamily="34" charset="0"/>
                <a:ea typeface="Inter" pitchFamily="34" charset="-122"/>
                <a:cs typeface="Inter" pitchFamily="34" charset="-120"/>
              </a:rPr>
              <a:t>Consistent tokenizer</a:t>
            </a:r>
            <a:endParaRPr lang="en-US" sz="1650" dirty="0"/>
          </a:p>
        </p:txBody>
      </p:sp>
      <p:sp>
        <p:nvSpPr>
          <p:cNvPr id="15" name="Text 12"/>
          <p:cNvSpPr/>
          <p:nvPr/>
        </p:nvSpPr>
        <p:spPr>
          <a:xfrm>
            <a:off x="3636355" y="4157632"/>
            <a:ext cx="2194836" cy="330133"/>
          </a:xfrm>
          <a:prstGeom prst="rect">
            <a:avLst/>
          </a:prstGeom>
          <a:noFill/>
          <a:ln/>
        </p:spPr>
        <p:txBody>
          <a:bodyPr wrap="none" lIns="0" tIns="0" rIns="0" bIns="0" rtlCol="0" anchor="t"/>
          <a:lstStyle/>
          <a:p>
            <a:pPr algn="ctr" indent="0" marL="0">
              <a:lnSpc>
                <a:spcPts val="2550"/>
              </a:lnSpc>
              <a:buNone/>
            </a:pPr>
            <a:r>
              <a:rPr lang="en-US" sz="2050" dirty="0">
                <a:solidFill>
                  <a:srgbClr val="D6D9D7"/>
                </a:solidFill>
                <a:latin typeface="DM Sans Medium" pitchFamily="34" charset="0"/>
                <a:ea typeface="DM Sans Medium" pitchFamily="34" charset="-122"/>
                <a:cs typeface="DM Sans Medium" pitchFamily="34" charset="-120"/>
              </a:rPr>
              <a:t>Train GPT-2</a:t>
            </a:r>
            <a:endParaRPr lang="en-US" sz="2050" dirty="0"/>
          </a:p>
        </p:txBody>
      </p:sp>
      <p:sp>
        <p:nvSpPr>
          <p:cNvPr id="16" name="Text 13"/>
          <p:cNvSpPr/>
          <p:nvPr/>
        </p:nvSpPr>
        <p:spPr>
          <a:xfrm>
            <a:off x="3636355" y="4581669"/>
            <a:ext cx="2194836" cy="231094"/>
          </a:xfrm>
          <a:prstGeom prst="rect">
            <a:avLst/>
          </a:prstGeom>
          <a:noFill/>
          <a:ln/>
        </p:spPr>
        <p:txBody>
          <a:bodyPr wrap="none" lIns="0" tIns="0" rIns="0" bIns="0" rtlCol="0" anchor="t"/>
          <a:lstStyle/>
          <a:p>
            <a:pPr algn="ctr" indent="0" marL="0">
              <a:lnSpc>
                <a:spcPts val="1800"/>
              </a:lnSpc>
              <a:buNone/>
            </a:pPr>
            <a:r>
              <a:rPr lang="en-US" sz="1650" dirty="0">
                <a:solidFill>
                  <a:srgbClr val="D6D9D7"/>
                </a:solidFill>
                <a:latin typeface="Inter" pitchFamily="34" charset="0"/>
                <a:ea typeface="Inter" pitchFamily="34" charset="-122"/>
                <a:cs typeface="Inter" pitchFamily="34" charset="-120"/>
              </a:rPr>
              <a:t>Base model</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95313" y="614720"/>
            <a:ext cx="6333411" cy="531614"/>
          </a:xfrm>
          <a:prstGeom prst="rect">
            <a:avLst/>
          </a:prstGeom>
          <a:noFill/>
          <a:ln/>
        </p:spPr>
        <p:txBody>
          <a:bodyPr wrap="none" lIns="0" tIns="0" rIns="0" bIns="0" rtlCol="0" anchor="t"/>
          <a:lstStyle/>
          <a:p>
            <a:pPr algn="l" indent="0" marL="0">
              <a:lnSpc>
                <a:spcPts val="4150"/>
              </a:lnSpc>
              <a:buNone/>
            </a:pPr>
            <a:r>
              <a:rPr lang="en-US" sz="3300" dirty="0">
                <a:solidFill>
                  <a:srgbClr val="F7F7F8"/>
                </a:solidFill>
                <a:latin typeface="DM Sans Medium" pitchFamily="34" charset="0"/>
                <a:ea typeface="DM Sans Medium" pitchFamily="34" charset="-122"/>
                <a:cs typeface="DM Sans Medium" pitchFamily="34" charset="-120"/>
              </a:rPr>
              <a:t>Results &amp; Comparative Analysis</a:t>
            </a:r>
            <a:endParaRPr lang="en-US" sz="3300" dirty="0"/>
          </a:p>
        </p:txBody>
      </p:sp>
      <p:sp>
        <p:nvSpPr>
          <p:cNvPr id="4" name="Shape 1"/>
          <p:cNvSpPr/>
          <p:nvPr/>
        </p:nvSpPr>
        <p:spPr>
          <a:xfrm>
            <a:off x="595313" y="1337667"/>
            <a:ext cx="7953375" cy="1518761"/>
          </a:xfrm>
          <a:prstGeom prst="roundRect">
            <a:avLst>
              <a:gd name="adj" fmla="val 1680"/>
            </a:avLst>
          </a:prstGeom>
          <a:solidFill>
            <a:srgbClr val="2D3133"/>
          </a:solidFill>
          <a:ln w="22860">
            <a:solidFill>
              <a:srgbClr val="65696B"/>
            </a:solidFill>
            <a:prstDash val="solid"/>
          </a:ln>
        </p:spPr>
      </p:sp>
      <p:sp>
        <p:nvSpPr>
          <p:cNvPr id="5" name="Shape 2"/>
          <p:cNvSpPr/>
          <p:nvPr/>
        </p:nvSpPr>
        <p:spPr>
          <a:xfrm>
            <a:off x="618173" y="1360527"/>
            <a:ext cx="680442" cy="1473041"/>
          </a:xfrm>
          <a:prstGeom prst="rect">
            <a:avLst/>
          </a:prstGeom>
          <a:solidFill>
            <a:srgbClr val="4C5052"/>
          </a:solidFill>
          <a:ln/>
        </p:spPr>
      </p:sp>
      <p:sp>
        <p:nvSpPr>
          <p:cNvPr id="6" name="Text 3"/>
          <p:cNvSpPr/>
          <p:nvPr/>
        </p:nvSpPr>
        <p:spPr>
          <a:xfrm>
            <a:off x="830818" y="1937504"/>
            <a:ext cx="255151" cy="318968"/>
          </a:xfrm>
          <a:prstGeom prst="rect">
            <a:avLst/>
          </a:prstGeom>
          <a:noFill/>
          <a:ln/>
        </p:spPr>
        <p:txBody>
          <a:bodyPr wrap="none" lIns="0" tIns="0" rIns="0" bIns="0" rtlCol="0" anchor="t"/>
          <a:lstStyle/>
          <a:p>
            <a:pPr algn="l" indent="0" marL="0">
              <a:lnSpc>
                <a:spcPts val="2000"/>
              </a:lnSpc>
              <a:buNone/>
            </a:pPr>
            <a:r>
              <a:rPr lang="en-US" sz="2000" dirty="0">
                <a:solidFill>
                  <a:srgbClr val="D6D9D7"/>
                </a:solidFill>
                <a:latin typeface="DM Sans Medium" pitchFamily="34" charset="0"/>
                <a:ea typeface="DM Sans Medium" pitchFamily="34" charset="-122"/>
                <a:cs typeface="DM Sans Medium" pitchFamily="34" charset="-120"/>
              </a:rPr>
              <a:t>1</a:t>
            </a:r>
            <a:endParaRPr lang="en-US" sz="2000" dirty="0"/>
          </a:p>
        </p:txBody>
      </p:sp>
      <p:sp>
        <p:nvSpPr>
          <p:cNvPr id="7" name="Text 4"/>
          <p:cNvSpPr/>
          <p:nvPr/>
        </p:nvSpPr>
        <p:spPr>
          <a:xfrm>
            <a:off x="1426131" y="1530548"/>
            <a:ext cx="2126456" cy="265747"/>
          </a:xfrm>
          <a:prstGeom prst="rect">
            <a:avLst/>
          </a:prstGeom>
          <a:noFill/>
          <a:ln/>
        </p:spPr>
        <p:txBody>
          <a:bodyPr wrap="none" lIns="0" tIns="0" rIns="0" bIns="0" rtlCol="0" anchor="t"/>
          <a:lstStyle/>
          <a:p>
            <a:pPr algn="l" indent="0" marL="0">
              <a:lnSpc>
                <a:spcPts val="2050"/>
              </a:lnSpc>
              <a:buNone/>
            </a:pPr>
            <a:r>
              <a:rPr lang="en-US" sz="1650" dirty="0">
                <a:solidFill>
                  <a:srgbClr val="D6D9D7"/>
                </a:solidFill>
                <a:latin typeface="DM Sans Medium" pitchFamily="34" charset="0"/>
                <a:ea typeface="DM Sans Medium" pitchFamily="34" charset="-122"/>
                <a:cs typeface="DM Sans Medium" pitchFamily="34" charset="-120"/>
              </a:rPr>
              <a:t>GPT-2</a:t>
            </a:r>
            <a:endParaRPr lang="en-US" sz="1650" dirty="0"/>
          </a:p>
        </p:txBody>
      </p:sp>
      <p:sp>
        <p:nvSpPr>
          <p:cNvPr id="8" name="Text 5"/>
          <p:cNvSpPr/>
          <p:nvPr/>
        </p:nvSpPr>
        <p:spPr>
          <a:xfrm>
            <a:off x="1426131" y="1872734"/>
            <a:ext cx="6929676" cy="238125"/>
          </a:xfrm>
          <a:prstGeom prst="rect">
            <a:avLst/>
          </a:prstGeom>
          <a:noFill/>
          <a:ln/>
        </p:spPr>
        <p:txBody>
          <a:bodyPr wrap="none" lIns="0" tIns="0" rIns="0" bIns="0" rtlCol="0" anchor="t"/>
          <a:lstStyle/>
          <a:p>
            <a:pPr algn="l" indent="0" marL="0">
              <a:lnSpc>
                <a:spcPts val="1850"/>
              </a:lnSpc>
              <a:buNone/>
            </a:pPr>
            <a:r>
              <a:rPr lang="en-US" sz="1300" b="1" dirty="0">
                <a:solidFill>
                  <a:srgbClr val="AC9EF5"/>
                </a:solidFill>
                <a:latin typeface="Inter" pitchFamily="34" charset="0"/>
                <a:ea typeface="Inter" pitchFamily="34" charset="-122"/>
                <a:cs typeface="Inter" pitchFamily="34" charset="-120"/>
              </a:rPr>
              <a:t>Best Performance</a:t>
            </a:r>
            <a:endParaRPr lang="en-US" sz="1300" dirty="0"/>
          </a:p>
        </p:txBody>
      </p:sp>
      <p:sp>
        <p:nvSpPr>
          <p:cNvPr id="9" name="Text 6"/>
          <p:cNvSpPr/>
          <p:nvPr/>
        </p:nvSpPr>
        <p:spPr>
          <a:xfrm>
            <a:off x="1426131" y="2187297"/>
            <a:ext cx="6929676" cy="476250"/>
          </a:xfrm>
          <a:prstGeom prst="rect">
            <a:avLst/>
          </a:prstGeom>
          <a:noFill/>
          <a:ln/>
        </p:spPr>
        <p:txBody>
          <a:bodyPr wrap="square" lIns="0" tIns="0" rIns="0" bIns="0" rtlCol="0" anchor="t"/>
          <a:lstStyle/>
          <a:p>
            <a:pPr algn="l" indent="0" marL="0">
              <a:lnSpc>
                <a:spcPts val="1850"/>
              </a:lnSpc>
              <a:buNone/>
            </a:pPr>
            <a:r>
              <a:rPr lang="en-US" sz="1300" dirty="0">
                <a:solidFill>
                  <a:srgbClr val="D6D9D7"/>
                </a:solidFill>
                <a:latin typeface="Inter" pitchFamily="34" charset="0"/>
                <a:ea typeface="Inter" pitchFamily="34" charset="-122"/>
                <a:cs typeface="Inter" pitchFamily="34" charset="-120"/>
              </a:rPr>
              <a:t>Achieved lowest training loss and perplexity scores, demonstrating superior language understanding. However, required longest training time and highest memory footprint.</a:t>
            </a:r>
            <a:endParaRPr lang="en-US" sz="1300" dirty="0"/>
          </a:p>
        </p:txBody>
      </p:sp>
      <p:sp>
        <p:nvSpPr>
          <p:cNvPr id="10" name="Shape 7"/>
          <p:cNvSpPr/>
          <p:nvPr/>
        </p:nvSpPr>
        <p:spPr>
          <a:xfrm>
            <a:off x="595313" y="2983944"/>
            <a:ext cx="7953375" cy="1756886"/>
          </a:xfrm>
          <a:prstGeom prst="roundRect">
            <a:avLst>
              <a:gd name="adj" fmla="val 1452"/>
            </a:avLst>
          </a:prstGeom>
          <a:solidFill>
            <a:srgbClr val="2D3133"/>
          </a:solidFill>
          <a:ln w="22860">
            <a:solidFill>
              <a:srgbClr val="65696B"/>
            </a:solidFill>
            <a:prstDash val="solid"/>
          </a:ln>
        </p:spPr>
      </p:sp>
      <p:sp>
        <p:nvSpPr>
          <p:cNvPr id="11" name="Shape 8"/>
          <p:cNvSpPr/>
          <p:nvPr/>
        </p:nvSpPr>
        <p:spPr>
          <a:xfrm>
            <a:off x="618173" y="3006804"/>
            <a:ext cx="680442" cy="1711166"/>
          </a:xfrm>
          <a:prstGeom prst="rect">
            <a:avLst/>
          </a:prstGeom>
          <a:solidFill>
            <a:srgbClr val="4C5052"/>
          </a:solidFill>
          <a:ln/>
        </p:spPr>
      </p:sp>
      <p:sp>
        <p:nvSpPr>
          <p:cNvPr id="12" name="Text 9"/>
          <p:cNvSpPr/>
          <p:nvPr/>
        </p:nvSpPr>
        <p:spPr>
          <a:xfrm>
            <a:off x="830818" y="3702844"/>
            <a:ext cx="255151" cy="318968"/>
          </a:xfrm>
          <a:prstGeom prst="rect">
            <a:avLst/>
          </a:prstGeom>
          <a:noFill/>
          <a:ln/>
        </p:spPr>
        <p:txBody>
          <a:bodyPr wrap="none" lIns="0" tIns="0" rIns="0" bIns="0" rtlCol="0" anchor="t"/>
          <a:lstStyle/>
          <a:p>
            <a:pPr algn="l" indent="0" marL="0">
              <a:lnSpc>
                <a:spcPts val="2000"/>
              </a:lnSpc>
              <a:buNone/>
            </a:pPr>
            <a:r>
              <a:rPr lang="en-US" sz="2000" dirty="0">
                <a:solidFill>
                  <a:srgbClr val="D6D9D7"/>
                </a:solidFill>
                <a:latin typeface="DM Sans Medium" pitchFamily="34" charset="0"/>
                <a:ea typeface="DM Sans Medium" pitchFamily="34" charset="-122"/>
                <a:cs typeface="DM Sans Medium" pitchFamily="34" charset="-120"/>
              </a:rPr>
              <a:t>2</a:t>
            </a:r>
            <a:endParaRPr lang="en-US" sz="2000" dirty="0"/>
          </a:p>
        </p:txBody>
      </p:sp>
      <p:sp>
        <p:nvSpPr>
          <p:cNvPr id="13" name="Text 10"/>
          <p:cNvSpPr/>
          <p:nvPr/>
        </p:nvSpPr>
        <p:spPr>
          <a:xfrm>
            <a:off x="1426131" y="3176826"/>
            <a:ext cx="2126456" cy="265747"/>
          </a:xfrm>
          <a:prstGeom prst="rect">
            <a:avLst/>
          </a:prstGeom>
          <a:noFill/>
          <a:ln/>
        </p:spPr>
        <p:txBody>
          <a:bodyPr wrap="none" lIns="0" tIns="0" rIns="0" bIns="0" rtlCol="0" anchor="t"/>
          <a:lstStyle/>
          <a:p>
            <a:pPr algn="l" indent="0" marL="0">
              <a:lnSpc>
                <a:spcPts val="2050"/>
              </a:lnSpc>
              <a:buNone/>
            </a:pPr>
            <a:r>
              <a:rPr lang="en-US" sz="1650" dirty="0">
                <a:solidFill>
                  <a:srgbClr val="D6D9D7"/>
                </a:solidFill>
                <a:latin typeface="DM Sans Medium" pitchFamily="34" charset="0"/>
                <a:ea typeface="DM Sans Medium" pitchFamily="34" charset="-122"/>
                <a:cs typeface="DM Sans Medium" pitchFamily="34" charset="-120"/>
              </a:rPr>
              <a:t>DistilGPT-2</a:t>
            </a:r>
            <a:endParaRPr lang="en-US" sz="1650" dirty="0"/>
          </a:p>
        </p:txBody>
      </p:sp>
      <p:sp>
        <p:nvSpPr>
          <p:cNvPr id="14" name="Text 11"/>
          <p:cNvSpPr/>
          <p:nvPr/>
        </p:nvSpPr>
        <p:spPr>
          <a:xfrm>
            <a:off x="1426131" y="3519011"/>
            <a:ext cx="6929676" cy="238125"/>
          </a:xfrm>
          <a:prstGeom prst="rect">
            <a:avLst/>
          </a:prstGeom>
          <a:noFill/>
          <a:ln/>
        </p:spPr>
        <p:txBody>
          <a:bodyPr wrap="none" lIns="0" tIns="0" rIns="0" bIns="0" rtlCol="0" anchor="t"/>
          <a:lstStyle/>
          <a:p>
            <a:pPr algn="l" indent="0" marL="0">
              <a:lnSpc>
                <a:spcPts val="1850"/>
              </a:lnSpc>
              <a:buNone/>
            </a:pPr>
            <a:r>
              <a:rPr lang="en-US" sz="1300" b="1" dirty="0">
                <a:solidFill>
                  <a:srgbClr val="AC9EF5"/>
                </a:solidFill>
                <a:latin typeface="Inter" pitchFamily="34" charset="0"/>
                <a:ea typeface="Inter" pitchFamily="34" charset="-122"/>
                <a:cs typeface="Inter" pitchFamily="34" charset="-120"/>
              </a:rPr>
              <a:t>Balanced Trade-off</a:t>
            </a:r>
            <a:endParaRPr lang="en-US" sz="1300" dirty="0"/>
          </a:p>
        </p:txBody>
      </p:sp>
      <p:sp>
        <p:nvSpPr>
          <p:cNvPr id="15" name="Text 12"/>
          <p:cNvSpPr/>
          <p:nvPr/>
        </p:nvSpPr>
        <p:spPr>
          <a:xfrm>
            <a:off x="1426131" y="3833574"/>
            <a:ext cx="6929676" cy="714375"/>
          </a:xfrm>
          <a:prstGeom prst="rect">
            <a:avLst/>
          </a:prstGeom>
          <a:noFill/>
          <a:ln/>
        </p:spPr>
        <p:txBody>
          <a:bodyPr wrap="square" lIns="0" tIns="0" rIns="0" bIns="0" rtlCol="0" anchor="t"/>
          <a:lstStyle/>
          <a:p>
            <a:pPr algn="l" indent="0" marL="0">
              <a:lnSpc>
                <a:spcPts val="1850"/>
              </a:lnSpc>
              <a:buNone/>
            </a:pPr>
            <a:r>
              <a:rPr lang="en-US" sz="1300" dirty="0">
                <a:solidFill>
                  <a:srgbClr val="D6D9D7"/>
                </a:solidFill>
                <a:latin typeface="Inter" pitchFamily="34" charset="0"/>
                <a:ea typeface="Inter" pitchFamily="34" charset="-122"/>
                <a:cs typeface="Inter" pitchFamily="34" charset="-120"/>
              </a:rPr>
              <a:t>Delivered 95% of GPT-2's performance with 40% faster training and 50% reduced memory requirements. Optimal choice for production environments with resource constraints.</a:t>
            </a:r>
            <a:endParaRPr lang="en-US" sz="1300" dirty="0"/>
          </a:p>
        </p:txBody>
      </p:sp>
      <p:sp>
        <p:nvSpPr>
          <p:cNvPr id="16" name="Shape 13"/>
          <p:cNvSpPr/>
          <p:nvPr/>
        </p:nvSpPr>
        <p:spPr>
          <a:xfrm>
            <a:off x="595313" y="4868347"/>
            <a:ext cx="7953375" cy="1518761"/>
          </a:xfrm>
          <a:prstGeom prst="roundRect">
            <a:avLst>
              <a:gd name="adj" fmla="val 1680"/>
            </a:avLst>
          </a:prstGeom>
          <a:solidFill>
            <a:srgbClr val="2D3133"/>
          </a:solidFill>
          <a:ln w="22860">
            <a:solidFill>
              <a:srgbClr val="65696B"/>
            </a:solidFill>
            <a:prstDash val="solid"/>
          </a:ln>
        </p:spPr>
      </p:sp>
      <p:sp>
        <p:nvSpPr>
          <p:cNvPr id="17" name="Shape 14"/>
          <p:cNvSpPr/>
          <p:nvPr/>
        </p:nvSpPr>
        <p:spPr>
          <a:xfrm>
            <a:off x="618173" y="4891207"/>
            <a:ext cx="680442" cy="1473041"/>
          </a:xfrm>
          <a:prstGeom prst="rect">
            <a:avLst/>
          </a:prstGeom>
          <a:solidFill>
            <a:srgbClr val="4C5052"/>
          </a:solidFill>
          <a:ln/>
        </p:spPr>
      </p:sp>
      <p:sp>
        <p:nvSpPr>
          <p:cNvPr id="18" name="Text 15"/>
          <p:cNvSpPr/>
          <p:nvPr/>
        </p:nvSpPr>
        <p:spPr>
          <a:xfrm>
            <a:off x="830818" y="5468183"/>
            <a:ext cx="255151" cy="318968"/>
          </a:xfrm>
          <a:prstGeom prst="rect">
            <a:avLst/>
          </a:prstGeom>
          <a:noFill/>
          <a:ln/>
        </p:spPr>
        <p:txBody>
          <a:bodyPr wrap="none" lIns="0" tIns="0" rIns="0" bIns="0" rtlCol="0" anchor="t"/>
          <a:lstStyle/>
          <a:p>
            <a:pPr algn="l" indent="0" marL="0">
              <a:lnSpc>
                <a:spcPts val="2000"/>
              </a:lnSpc>
              <a:buNone/>
            </a:pPr>
            <a:r>
              <a:rPr lang="en-US" sz="2000" dirty="0">
                <a:solidFill>
                  <a:srgbClr val="D6D9D7"/>
                </a:solidFill>
                <a:latin typeface="DM Sans Medium" pitchFamily="34" charset="0"/>
                <a:ea typeface="DM Sans Medium" pitchFamily="34" charset="-122"/>
                <a:cs typeface="DM Sans Medium" pitchFamily="34" charset="-120"/>
              </a:rPr>
              <a:t>3</a:t>
            </a:r>
            <a:endParaRPr lang="en-US" sz="2000" dirty="0"/>
          </a:p>
        </p:txBody>
      </p:sp>
      <p:sp>
        <p:nvSpPr>
          <p:cNvPr id="19" name="Text 16"/>
          <p:cNvSpPr/>
          <p:nvPr/>
        </p:nvSpPr>
        <p:spPr>
          <a:xfrm>
            <a:off x="1426131" y="5061228"/>
            <a:ext cx="2126456" cy="265747"/>
          </a:xfrm>
          <a:prstGeom prst="rect">
            <a:avLst/>
          </a:prstGeom>
          <a:noFill/>
          <a:ln/>
        </p:spPr>
        <p:txBody>
          <a:bodyPr wrap="none" lIns="0" tIns="0" rIns="0" bIns="0" rtlCol="0" anchor="t"/>
          <a:lstStyle/>
          <a:p>
            <a:pPr algn="l" indent="0" marL="0">
              <a:lnSpc>
                <a:spcPts val="2050"/>
              </a:lnSpc>
              <a:buNone/>
            </a:pPr>
            <a:r>
              <a:rPr lang="en-US" sz="1650" dirty="0">
                <a:solidFill>
                  <a:srgbClr val="D6D9D7"/>
                </a:solidFill>
                <a:latin typeface="DM Sans Medium" pitchFamily="34" charset="0"/>
                <a:ea typeface="DM Sans Medium" pitchFamily="34" charset="-122"/>
                <a:cs typeface="DM Sans Medium" pitchFamily="34" charset="-120"/>
              </a:rPr>
              <a:t>Tiny GPT-2</a:t>
            </a:r>
            <a:endParaRPr lang="en-US" sz="1650" dirty="0"/>
          </a:p>
        </p:txBody>
      </p:sp>
      <p:sp>
        <p:nvSpPr>
          <p:cNvPr id="20" name="Text 17"/>
          <p:cNvSpPr/>
          <p:nvPr/>
        </p:nvSpPr>
        <p:spPr>
          <a:xfrm>
            <a:off x="1426131" y="5403413"/>
            <a:ext cx="6929676" cy="238125"/>
          </a:xfrm>
          <a:prstGeom prst="rect">
            <a:avLst/>
          </a:prstGeom>
          <a:noFill/>
          <a:ln/>
        </p:spPr>
        <p:txBody>
          <a:bodyPr wrap="none" lIns="0" tIns="0" rIns="0" bIns="0" rtlCol="0" anchor="t"/>
          <a:lstStyle/>
          <a:p>
            <a:pPr algn="l" indent="0" marL="0">
              <a:lnSpc>
                <a:spcPts val="1850"/>
              </a:lnSpc>
              <a:buNone/>
            </a:pPr>
            <a:r>
              <a:rPr lang="en-US" sz="1300" b="1" dirty="0">
                <a:solidFill>
                  <a:srgbClr val="AC9EF5"/>
                </a:solidFill>
                <a:latin typeface="Inter" pitchFamily="34" charset="0"/>
                <a:ea typeface="Inter" pitchFamily="34" charset="-122"/>
                <a:cs typeface="Inter" pitchFamily="34" charset="-120"/>
              </a:rPr>
              <a:t>Fast &amp; Efficient</a:t>
            </a:r>
            <a:endParaRPr lang="en-US" sz="1300" dirty="0"/>
          </a:p>
        </p:txBody>
      </p:sp>
      <p:sp>
        <p:nvSpPr>
          <p:cNvPr id="21" name="Text 18"/>
          <p:cNvSpPr/>
          <p:nvPr/>
        </p:nvSpPr>
        <p:spPr>
          <a:xfrm>
            <a:off x="1426131" y="5717977"/>
            <a:ext cx="6929676" cy="476250"/>
          </a:xfrm>
          <a:prstGeom prst="rect">
            <a:avLst/>
          </a:prstGeom>
          <a:noFill/>
          <a:ln/>
        </p:spPr>
        <p:txBody>
          <a:bodyPr wrap="square" lIns="0" tIns="0" rIns="0" bIns="0" rtlCol="0" anchor="t"/>
          <a:lstStyle/>
          <a:p>
            <a:pPr algn="l" indent="0" marL="0">
              <a:lnSpc>
                <a:spcPts val="1850"/>
              </a:lnSpc>
              <a:buNone/>
            </a:pPr>
            <a:r>
              <a:rPr lang="en-US" sz="1300" dirty="0">
                <a:solidFill>
                  <a:srgbClr val="D6D9D7"/>
                </a:solidFill>
                <a:latin typeface="Inter" pitchFamily="34" charset="0"/>
                <a:ea typeface="Inter" pitchFamily="34" charset="-122"/>
                <a:cs typeface="Inter" pitchFamily="34" charset="-120"/>
              </a:rPr>
              <a:t>Completed training in one-fifth the time but showed higher perplexity. Suitable for rapid prototyping, educational purposes, or low-resource deployment scenarios.</a:t>
            </a:r>
            <a:endParaRPr lang="en-US" sz="1300" dirty="0"/>
          </a:p>
        </p:txBody>
      </p:sp>
      <p:sp>
        <p:nvSpPr>
          <p:cNvPr id="22" name="Shape 19"/>
          <p:cNvSpPr/>
          <p:nvPr/>
        </p:nvSpPr>
        <p:spPr>
          <a:xfrm>
            <a:off x="595313" y="6530578"/>
            <a:ext cx="7953375" cy="1084183"/>
          </a:xfrm>
          <a:prstGeom prst="roundRect">
            <a:avLst>
              <a:gd name="adj" fmla="val 2354"/>
            </a:avLst>
          </a:prstGeom>
          <a:solidFill>
            <a:srgbClr val="022349"/>
          </a:solidFill>
          <a:ln/>
        </p:spPr>
      </p:sp>
      <p:pic>
        <p:nvPicPr>
          <p:cNvPr id="23" name="Image 1" descr="preencoded.png">    </p:cNvPr>
          <p:cNvPicPr>
            <a:picLocks noChangeAspect="1"/>
          </p:cNvPicPr>
          <p:nvPr/>
        </p:nvPicPr>
        <p:blipFill>
          <a:blip r:embed="rId2"/>
          <a:stretch>
            <a:fillRect/>
          </a:stretch>
        </p:blipFill>
        <p:spPr>
          <a:xfrm>
            <a:off x="765334" y="6777157"/>
            <a:ext cx="212646" cy="170021"/>
          </a:xfrm>
          <a:prstGeom prst="rect">
            <a:avLst/>
          </a:prstGeom>
        </p:spPr>
      </p:pic>
      <p:sp>
        <p:nvSpPr>
          <p:cNvPr id="24" name="Text 20"/>
          <p:cNvSpPr/>
          <p:nvPr/>
        </p:nvSpPr>
        <p:spPr>
          <a:xfrm>
            <a:off x="1148001" y="6700599"/>
            <a:ext cx="7230666" cy="714375"/>
          </a:xfrm>
          <a:prstGeom prst="rect">
            <a:avLst/>
          </a:prstGeom>
          <a:noFill/>
          <a:ln/>
        </p:spPr>
        <p:txBody>
          <a:bodyPr wrap="square" lIns="0" tIns="0" rIns="0" bIns="0" rtlCol="0" anchor="t"/>
          <a:lstStyle/>
          <a:p>
            <a:pPr algn="l" indent="0" marL="0">
              <a:lnSpc>
                <a:spcPts val="1850"/>
              </a:lnSpc>
              <a:buNone/>
            </a:pPr>
            <a:r>
              <a:rPr lang="en-US" sz="1300" b="1" dirty="0">
                <a:solidFill>
                  <a:srgbClr val="FFFFFF"/>
                </a:solidFill>
                <a:latin typeface="Inter" pitchFamily="34" charset="0"/>
                <a:ea typeface="Inter" pitchFamily="34" charset="-122"/>
                <a:cs typeface="Inter" pitchFamily="34" charset="-120"/>
              </a:rPr>
              <a:t>Key Insight:</a:t>
            </a:r>
            <a:pPr algn="l" indent="0" marL="0">
              <a:lnSpc>
                <a:spcPts val="1850"/>
              </a:lnSpc>
              <a:buNone/>
            </a:pPr>
            <a:r>
              <a:rPr lang="en-US" sz="1300" dirty="0">
                <a:solidFill>
                  <a:srgbClr val="FFFFFF"/>
                </a:solidFill>
                <a:latin typeface="Inter" pitchFamily="34" charset="0"/>
                <a:ea typeface="Inter" pitchFamily="34" charset="-122"/>
                <a:cs typeface="Inter" pitchFamily="34" charset="-120"/>
              </a:rPr>
              <a:t> The performance-efficiency trade-off varies significantly across architectures, necessitating careful model selection based on application requirements and available computational resources.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82228" y="643771"/>
            <a:ext cx="4873228" cy="609124"/>
          </a:xfrm>
          <a:prstGeom prst="rect">
            <a:avLst/>
          </a:prstGeom>
          <a:noFill/>
          <a:ln/>
        </p:spPr>
        <p:txBody>
          <a:bodyPr wrap="none" lIns="0" tIns="0" rIns="0" bIns="0" rtlCol="0" anchor="t"/>
          <a:lstStyle/>
          <a:p>
            <a:pPr algn="l" indent="0" marL="0">
              <a:lnSpc>
                <a:spcPts val="4750"/>
              </a:lnSpc>
              <a:buNone/>
            </a:pPr>
            <a:r>
              <a:rPr lang="en-US" sz="3800" dirty="0">
                <a:solidFill>
                  <a:srgbClr val="F7F7F8"/>
                </a:solidFill>
                <a:latin typeface="DM Sans Medium" pitchFamily="34" charset="0"/>
                <a:ea typeface="DM Sans Medium" pitchFamily="34" charset="-122"/>
                <a:cs typeface="DM Sans Medium" pitchFamily="34" charset="-120"/>
              </a:rPr>
              <a:t>Conclusion</a:t>
            </a:r>
            <a:endParaRPr lang="en-US" sz="3800" dirty="0"/>
          </a:p>
        </p:txBody>
      </p:sp>
      <p:sp>
        <p:nvSpPr>
          <p:cNvPr id="4" name="Shape 1"/>
          <p:cNvSpPr/>
          <p:nvPr/>
        </p:nvSpPr>
        <p:spPr>
          <a:xfrm>
            <a:off x="682228" y="1504117"/>
            <a:ext cx="438507" cy="438507"/>
          </a:xfrm>
          <a:prstGeom prst="roundRect">
            <a:avLst>
              <a:gd name="adj" fmla="val 6668"/>
            </a:avLst>
          </a:prstGeom>
          <a:solidFill>
            <a:srgbClr val="4C5052"/>
          </a:solidFill>
          <a:ln/>
        </p:spPr>
      </p:sp>
      <p:sp>
        <p:nvSpPr>
          <p:cNvPr id="5" name="Text 2"/>
          <p:cNvSpPr/>
          <p:nvPr/>
        </p:nvSpPr>
        <p:spPr>
          <a:xfrm>
            <a:off x="1288137" y="1571030"/>
            <a:ext cx="2823686" cy="304562"/>
          </a:xfrm>
          <a:prstGeom prst="rect">
            <a:avLst/>
          </a:prstGeom>
          <a:noFill/>
          <a:ln/>
        </p:spPr>
        <p:txBody>
          <a:bodyPr wrap="none" lIns="0" tIns="0" rIns="0" bIns="0" rtlCol="0" anchor="t"/>
          <a:lstStyle/>
          <a:p>
            <a:pPr algn="l" indent="0" marL="0">
              <a:lnSpc>
                <a:spcPts val="2350"/>
              </a:lnSpc>
              <a:buNone/>
            </a:pPr>
            <a:r>
              <a:rPr lang="en-US" sz="1900" dirty="0">
                <a:solidFill>
                  <a:srgbClr val="D6D9D7"/>
                </a:solidFill>
                <a:latin typeface="DM Sans Medium" pitchFamily="34" charset="0"/>
                <a:ea typeface="DM Sans Medium" pitchFamily="34" charset="-122"/>
                <a:cs typeface="DM Sans Medium" pitchFamily="34" charset="-120"/>
              </a:rPr>
              <a:t>LLMs Excel with Big Data</a:t>
            </a:r>
            <a:endParaRPr lang="en-US" sz="1900" dirty="0"/>
          </a:p>
        </p:txBody>
      </p:sp>
      <p:sp>
        <p:nvSpPr>
          <p:cNvPr id="6" name="Text 3"/>
          <p:cNvSpPr/>
          <p:nvPr/>
        </p:nvSpPr>
        <p:spPr>
          <a:xfrm>
            <a:off x="1288137" y="1976080"/>
            <a:ext cx="7173635" cy="869752"/>
          </a:xfrm>
          <a:prstGeom prst="rect">
            <a:avLst/>
          </a:prstGeom>
          <a:noFill/>
          <a:ln/>
        </p:spPr>
        <p:txBody>
          <a:bodyPr wrap="square" lIns="0" tIns="0" rIns="0" bIns="0" rtlCol="0" anchor="t"/>
          <a:lstStyle/>
          <a:p>
            <a:pPr algn="l" indent="0" marL="0">
              <a:lnSpc>
                <a:spcPts val="2250"/>
              </a:lnSpc>
              <a:buNone/>
            </a:pPr>
            <a:r>
              <a:rPr lang="en-US" sz="1500" dirty="0">
                <a:solidFill>
                  <a:srgbClr val="D6D9D7"/>
                </a:solidFill>
                <a:latin typeface="Inter" pitchFamily="34" charset="0"/>
                <a:ea typeface="Inter" pitchFamily="34" charset="-122"/>
                <a:cs typeface="Inter" pitchFamily="34" charset="-120"/>
              </a:rPr>
              <a:t>Transformer-based architectures effectively process massive unstructured text datasets, capturing complex linguistic patterns that elude traditional NLP methods.</a:t>
            </a:r>
            <a:endParaRPr lang="en-US" sz="1500" dirty="0"/>
          </a:p>
        </p:txBody>
      </p:sp>
      <p:sp>
        <p:nvSpPr>
          <p:cNvPr id="7" name="Shape 4"/>
          <p:cNvSpPr/>
          <p:nvPr/>
        </p:nvSpPr>
        <p:spPr>
          <a:xfrm>
            <a:off x="682228" y="3180755"/>
            <a:ext cx="438507" cy="438507"/>
          </a:xfrm>
          <a:prstGeom prst="roundRect">
            <a:avLst>
              <a:gd name="adj" fmla="val 6668"/>
            </a:avLst>
          </a:prstGeom>
          <a:solidFill>
            <a:srgbClr val="4C5052"/>
          </a:solidFill>
          <a:ln/>
        </p:spPr>
      </p:sp>
      <p:sp>
        <p:nvSpPr>
          <p:cNvPr id="8" name="Text 5"/>
          <p:cNvSpPr/>
          <p:nvPr/>
        </p:nvSpPr>
        <p:spPr>
          <a:xfrm>
            <a:off x="1288137" y="3247668"/>
            <a:ext cx="3211235" cy="304562"/>
          </a:xfrm>
          <a:prstGeom prst="rect">
            <a:avLst/>
          </a:prstGeom>
          <a:noFill/>
          <a:ln/>
        </p:spPr>
        <p:txBody>
          <a:bodyPr wrap="none" lIns="0" tIns="0" rIns="0" bIns="0" rtlCol="0" anchor="t"/>
          <a:lstStyle/>
          <a:p>
            <a:pPr algn="l" indent="0" marL="0">
              <a:lnSpc>
                <a:spcPts val="2350"/>
              </a:lnSpc>
              <a:buNone/>
            </a:pPr>
            <a:r>
              <a:rPr lang="en-US" sz="1900" dirty="0">
                <a:solidFill>
                  <a:srgbClr val="D6D9D7"/>
                </a:solidFill>
                <a:latin typeface="DM Sans Medium" pitchFamily="34" charset="0"/>
                <a:ea typeface="DM Sans Medium" pitchFamily="34" charset="-122"/>
                <a:cs typeface="DM Sans Medium" pitchFamily="34" charset="-120"/>
              </a:rPr>
              <a:t>Distributed Training Matters</a:t>
            </a:r>
            <a:endParaRPr lang="en-US" sz="1900" dirty="0"/>
          </a:p>
        </p:txBody>
      </p:sp>
      <p:sp>
        <p:nvSpPr>
          <p:cNvPr id="9" name="Text 6"/>
          <p:cNvSpPr/>
          <p:nvPr/>
        </p:nvSpPr>
        <p:spPr>
          <a:xfrm>
            <a:off x="1288137" y="3652718"/>
            <a:ext cx="7173635" cy="869752"/>
          </a:xfrm>
          <a:prstGeom prst="rect">
            <a:avLst/>
          </a:prstGeom>
          <a:noFill/>
          <a:ln/>
        </p:spPr>
        <p:txBody>
          <a:bodyPr wrap="square" lIns="0" tIns="0" rIns="0" bIns="0" rtlCol="0" anchor="t"/>
          <a:lstStyle/>
          <a:p>
            <a:pPr algn="l" indent="0" marL="0">
              <a:lnSpc>
                <a:spcPts val="2250"/>
              </a:lnSpc>
              <a:buNone/>
            </a:pPr>
            <a:r>
              <a:rPr lang="en-US" sz="1500" dirty="0">
                <a:solidFill>
                  <a:srgbClr val="D6D9D7"/>
                </a:solidFill>
                <a:latin typeface="Inter" pitchFamily="34" charset="0"/>
                <a:ea typeface="Inter" pitchFamily="34" charset="-122"/>
                <a:cs typeface="Inter" pitchFamily="34" charset="-120"/>
              </a:rPr>
              <a:t>Parallel processing frameworks significantly reduce training time whilst maintaining model quality, enabling practical deployment of LLMs in production systems.</a:t>
            </a:r>
            <a:endParaRPr lang="en-US" sz="1500" dirty="0"/>
          </a:p>
        </p:txBody>
      </p:sp>
      <p:sp>
        <p:nvSpPr>
          <p:cNvPr id="10" name="Shape 7"/>
          <p:cNvSpPr/>
          <p:nvPr/>
        </p:nvSpPr>
        <p:spPr>
          <a:xfrm>
            <a:off x="682228" y="4857393"/>
            <a:ext cx="438507" cy="438507"/>
          </a:xfrm>
          <a:prstGeom prst="roundRect">
            <a:avLst>
              <a:gd name="adj" fmla="val 6668"/>
            </a:avLst>
          </a:prstGeom>
          <a:solidFill>
            <a:srgbClr val="4C5052"/>
          </a:solidFill>
          <a:ln/>
        </p:spPr>
      </p:sp>
      <p:sp>
        <p:nvSpPr>
          <p:cNvPr id="11" name="Text 8"/>
          <p:cNvSpPr/>
          <p:nvPr/>
        </p:nvSpPr>
        <p:spPr>
          <a:xfrm>
            <a:off x="1288137" y="4924306"/>
            <a:ext cx="4596408" cy="304562"/>
          </a:xfrm>
          <a:prstGeom prst="rect">
            <a:avLst/>
          </a:prstGeom>
          <a:noFill/>
          <a:ln/>
        </p:spPr>
        <p:txBody>
          <a:bodyPr wrap="none" lIns="0" tIns="0" rIns="0" bIns="0" rtlCol="0" anchor="t"/>
          <a:lstStyle/>
          <a:p>
            <a:pPr algn="l" indent="0" marL="0">
              <a:lnSpc>
                <a:spcPts val="2350"/>
              </a:lnSpc>
              <a:buNone/>
            </a:pPr>
            <a:r>
              <a:rPr lang="en-US" sz="1900" dirty="0">
                <a:solidFill>
                  <a:srgbClr val="D6D9D7"/>
                </a:solidFill>
                <a:latin typeface="DM Sans Medium" pitchFamily="34" charset="0"/>
                <a:ea typeface="DM Sans Medium" pitchFamily="34" charset="-122"/>
                <a:cs typeface="DM Sans Medium" pitchFamily="34" charset="-120"/>
              </a:rPr>
              <a:t>Comparative Analysis Informs Decisions</a:t>
            </a:r>
            <a:endParaRPr lang="en-US" sz="1900" dirty="0"/>
          </a:p>
        </p:txBody>
      </p:sp>
      <p:sp>
        <p:nvSpPr>
          <p:cNvPr id="12" name="Text 9"/>
          <p:cNvSpPr/>
          <p:nvPr/>
        </p:nvSpPr>
        <p:spPr>
          <a:xfrm>
            <a:off x="1288137" y="5329357"/>
            <a:ext cx="7173635" cy="579834"/>
          </a:xfrm>
          <a:prstGeom prst="rect">
            <a:avLst/>
          </a:prstGeom>
          <a:noFill/>
          <a:ln/>
        </p:spPr>
        <p:txBody>
          <a:bodyPr wrap="square" lIns="0" tIns="0" rIns="0" bIns="0" rtlCol="0" anchor="t"/>
          <a:lstStyle/>
          <a:p>
            <a:pPr algn="l" indent="0" marL="0">
              <a:lnSpc>
                <a:spcPts val="2250"/>
              </a:lnSpc>
              <a:buNone/>
            </a:pPr>
            <a:r>
              <a:rPr lang="en-US" sz="1500" dirty="0">
                <a:solidFill>
                  <a:srgbClr val="D6D9D7"/>
                </a:solidFill>
                <a:latin typeface="Inter" pitchFamily="34" charset="0"/>
                <a:ea typeface="Inter" pitchFamily="34" charset="-122"/>
                <a:cs typeface="Inter" pitchFamily="34" charset="-120"/>
              </a:rPr>
              <a:t>Systematic evaluation across multiple metrics helps identify the optimal model for specific use cases, balancing accuracy against computational cost.</a:t>
            </a:r>
            <a:endParaRPr lang="en-US" sz="1500" dirty="0"/>
          </a:p>
        </p:txBody>
      </p:sp>
      <p:sp>
        <p:nvSpPr>
          <p:cNvPr id="13" name="Shape 10"/>
          <p:cNvSpPr/>
          <p:nvPr/>
        </p:nvSpPr>
        <p:spPr>
          <a:xfrm>
            <a:off x="682228" y="6244114"/>
            <a:ext cx="438507" cy="438507"/>
          </a:xfrm>
          <a:prstGeom prst="roundRect">
            <a:avLst>
              <a:gd name="adj" fmla="val 6668"/>
            </a:avLst>
          </a:prstGeom>
          <a:solidFill>
            <a:srgbClr val="4C5052"/>
          </a:solidFill>
          <a:ln/>
        </p:spPr>
      </p:sp>
      <p:sp>
        <p:nvSpPr>
          <p:cNvPr id="14" name="Text 11"/>
          <p:cNvSpPr/>
          <p:nvPr/>
        </p:nvSpPr>
        <p:spPr>
          <a:xfrm>
            <a:off x="1288137" y="6311027"/>
            <a:ext cx="2436614" cy="304562"/>
          </a:xfrm>
          <a:prstGeom prst="rect">
            <a:avLst/>
          </a:prstGeom>
          <a:noFill/>
          <a:ln/>
        </p:spPr>
        <p:txBody>
          <a:bodyPr wrap="none" lIns="0" tIns="0" rIns="0" bIns="0" rtlCol="0" anchor="t"/>
          <a:lstStyle/>
          <a:p>
            <a:pPr algn="l" indent="0" marL="0">
              <a:lnSpc>
                <a:spcPts val="2350"/>
              </a:lnSpc>
              <a:buNone/>
            </a:pPr>
            <a:r>
              <a:rPr lang="en-US" sz="1900" dirty="0">
                <a:solidFill>
                  <a:srgbClr val="D6D9D7"/>
                </a:solidFill>
                <a:latin typeface="DM Sans Medium" pitchFamily="34" charset="0"/>
                <a:ea typeface="DM Sans Medium" pitchFamily="34" charset="-122"/>
                <a:cs typeface="DM Sans Medium" pitchFamily="34" charset="-120"/>
              </a:rPr>
              <a:t>Future Directions</a:t>
            </a:r>
            <a:endParaRPr lang="en-US" sz="1900" dirty="0"/>
          </a:p>
        </p:txBody>
      </p:sp>
      <p:sp>
        <p:nvSpPr>
          <p:cNvPr id="15" name="Text 12"/>
          <p:cNvSpPr/>
          <p:nvPr/>
        </p:nvSpPr>
        <p:spPr>
          <a:xfrm>
            <a:off x="1288137" y="6716078"/>
            <a:ext cx="7173635" cy="869752"/>
          </a:xfrm>
          <a:prstGeom prst="rect">
            <a:avLst/>
          </a:prstGeom>
          <a:noFill/>
          <a:ln/>
        </p:spPr>
        <p:txBody>
          <a:bodyPr wrap="square" lIns="0" tIns="0" rIns="0" bIns="0" rtlCol="0" anchor="t"/>
          <a:lstStyle/>
          <a:p>
            <a:pPr algn="l" indent="0" marL="0">
              <a:lnSpc>
                <a:spcPts val="2250"/>
              </a:lnSpc>
              <a:buNone/>
            </a:pPr>
            <a:r>
              <a:rPr lang="en-US" sz="1500" dirty="0">
                <a:solidFill>
                  <a:srgbClr val="D6D9D7"/>
                </a:solidFill>
                <a:latin typeface="Inter" pitchFamily="34" charset="0"/>
                <a:ea typeface="Inter" pitchFamily="34" charset="-122"/>
                <a:cs typeface="Inter" pitchFamily="34" charset="-120"/>
              </a:rPr>
              <a:t>Next steps include scaling to larger models (GPT-3, BERT variants), implementing true distributed training across GPU clusters, and evaluating on domain-specific datasets.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2026-04-19T08:23:26Z</dcterms:created>
  <dcterms:modified xsi:type="dcterms:W3CDTF">2026-04-19T08:23:26Z</dcterms:modified>
</cp:coreProperties>
</file>